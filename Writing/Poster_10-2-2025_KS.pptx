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notesMasterIdLst>
    <p:notesMasterId r:id="rId3"/>
  </p:notesMasterIdLst>
  <p:sldIdLst>
    <p:sldId id="256" r:id="rId2"/>
  </p:sldIdLst>
  <p:sldSz cx="43891200" cy="24688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776" userDrawn="1">
          <p15:clr>
            <a:srgbClr val="A4A3A4"/>
          </p15:clr>
        </p15:guide>
        <p15:guide id="2" pos="138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F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729"/>
  </p:normalViewPr>
  <p:slideViewPr>
    <p:cSldViewPr>
      <p:cViewPr varScale="1">
        <p:scale>
          <a:sx n="32" d="100"/>
          <a:sy n="32" d="100"/>
        </p:scale>
        <p:origin x="616" y="176"/>
      </p:cViewPr>
      <p:guideLst>
        <p:guide orient="horz" pos="7776"/>
        <p:guide pos="1384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CB60DD-92DA-DE4C-8CF8-CDF03E8A2060}" type="datetimeFigureOut">
              <a:rPr lang="en-US" smtClean="0"/>
              <a:t>10/3/25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978965-1FB0-CC42-AE82-A9AE2575C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690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05765" rtl="0" eaLnBrk="1" latinLnBrk="0" hangingPunct="1">
      <a:defRPr sz="1713" kern="1200">
        <a:solidFill>
          <a:schemeClr val="tx1"/>
        </a:solidFill>
        <a:latin typeface="+mn-lt"/>
        <a:ea typeface="+mn-ea"/>
        <a:cs typeface="+mn-cs"/>
      </a:defRPr>
    </a:lvl1pPr>
    <a:lvl2pPr marL="652885" algn="l" defTabSz="1305765" rtl="0" eaLnBrk="1" latinLnBrk="0" hangingPunct="1">
      <a:defRPr sz="1713" kern="1200">
        <a:solidFill>
          <a:schemeClr val="tx1"/>
        </a:solidFill>
        <a:latin typeface="+mn-lt"/>
        <a:ea typeface="+mn-ea"/>
        <a:cs typeface="+mn-cs"/>
      </a:defRPr>
    </a:lvl2pPr>
    <a:lvl3pPr marL="1305765" algn="l" defTabSz="1305765" rtl="0" eaLnBrk="1" latinLnBrk="0" hangingPunct="1">
      <a:defRPr sz="1713" kern="1200">
        <a:solidFill>
          <a:schemeClr val="tx1"/>
        </a:solidFill>
        <a:latin typeface="+mn-lt"/>
        <a:ea typeface="+mn-ea"/>
        <a:cs typeface="+mn-cs"/>
      </a:defRPr>
    </a:lvl3pPr>
    <a:lvl4pPr marL="1958649" algn="l" defTabSz="1305765" rtl="0" eaLnBrk="1" latinLnBrk="0" hangingPunct="1">
      <a:defRPr sz="1713" kern="1200">
        <a:solidFill>
          <a:schemeClr val="tx1"/>
        </a:solidFill>
        <a:latin typeface="+mn-lt"/>
        <a:ea typeface="+mn-ea"/>
        <a:cs typeface="+mn-cs"/>
      </a:defRPr>
    </a:lvl4pPr>
    <a:lvl5pPr marL="2611534" algn="l" defTabSz="1305765" rtl="0" eaLnBrk="1" latinLnBrk="0" hangingPunct="1">
      <a:defRPr sz="1713" kern="1200">
        <a:solidFill>
          <a:schemeClr val="tx1"/>
        </a:solidFill>
        <a:latin typeface="+mn-lt"/>
        <a:ea typeface="+mn-ea"/>
        <a:cs typeface="+mn-cs"/>
      </a:defRPr>
    </a:lvl5pPr>
    <a:lvl6pPr marL="3264419" algn="l" defTabSz="1305765" rtl="0" eaLnBrk="1" latinLnBrk="0" hangingPunct="1">
      <a:defRPr sz="1713" kern="1200">
        <a:solidFill>
          <a:schemeClr val="tx1"/>
        </a:solidFill>
        <a:latin typeface="+mn-lt"/>
        <a:ea typeface="+mn-ea"/>
        <a:cs typeface="+mn-cs"/>
      </a:defRPr>
    </a:lvl6pPr>
    <a:lvl7pPr marL="3917299" algn="l" defTabSz="1305765" rtl="0" eaLnBrk="1" latinLnBrk="0" hangingPunct="1">
      <a:defRPr sz="1713" kern="1200">
        <a:solidFill>
          <a:schemeClr val="tx1"/>
        </a:solidFill>
        <a:latin typeface="+mn-lt"/>
        <a:ea typeface="+mn-ea"/>
        <a:cs typeface="+mn-cs"/>
      </a:defRPr>
    </a:lvl7pPr>
    <a:lvl8pPr marL="4570183" algn="l" defTabSz="1305765" rtl="0" eaLnBrk="1" latinLnBrk="0" hangingPunct="1">
      <a:defRPr sz="1713" kern="1200">
        <a:solidFill>
          <a:schemeClr val="tx1"/>
        </a:solidFill>
        <a:latin typeface="+mn-lt"/>
        <a:ea typeface="+mn-ea"/>
        <a:cs typeface="+mn-cs"/>
      </a:defRPr>
    </a:lvl8pPr>
    <a:lvl9pPr marL="5223068" algn="l" defTabSz="1305765" rtl="0" eaLnBrk="1" latinLnBrk="0" hangingPunct="1">
      <a:defRPr sz="171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978965-1FB0-CC42-AE82-A9AE2575C09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54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0" y="4040507"/>
            <a:ext cx="32918400" cy="8595360"/>
          </a:xfrm>
        </p:spPr>
        <p:txBody>
          <a:bodyPr anchor="b"/>
          <a:lstStyle>
            <a:lvl1pPr algn="ctr"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2967337"/>
            <a:ext cx="32918400" cy="5960743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3C688-D8FA-9B46-82D1-138CD23A974B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6857-698F-0E4C-97BA-629E73ACF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479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3C688-D8FA-9B46-82D1-138CD23A974B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6857-698F-0E4C-97BA-629E73ACF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862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0" y="6155059"/>
            <a:ext cx="37856160" cy="10269853"/>
          </a:xfrm>
        </p:spPr>
        <p:txBody>
          <a:bodyPr anchor="b"/>
          <a:lstStyle>
            <a:lvl1pPr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0" y="16522069"/>
            <a:ext cx="37856160" cy="5400673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>
                    <a:tint val="82000"/>
                  </a:schemeClr>
                </a:solidFill>
              </a:defRPr>
            </a:lvl1pPr>
            <a:lvl2pPr marL="1645920" indent="0">
              <a:buNone/>
              <a:defRPr sz="7200">
                <a:solidFill>
                  <a:schemeClr val="tx1">
                    <a:tint val="82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82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3C688-D8FA-9B46-82D1-138CD23A974B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6857-698F-0E4C-97BA-629E73ACF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656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6572250"/>
            <a:ext cx="18653760" cy="156648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6572250"/>
            <a:ext cx="18653760" cy="156648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3C688-D8FA-9B46-82D1-138CD23A974B}" type="datetimeFigureOut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6857-698F-0E4C-97BA-629E73ACF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352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314452"/>
            <a:ext cx="37856160" cy="477202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39" y="6052187"/>
            <a:ext cx="18568033" cy="2966083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39" y="9018270"/>
            <a:ext cx="18568033" cy="132645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0" y="6052187"/>
            <a:ext cx="18659477" cy="2966083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0" y="9018270"/>
            <a:ext cx="18659477" cy="132645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3C688-D8FA-9B46-82D1-138CD23A974B}" type="datetimeFigureOut">
              <a:rPr lang="en-US" smtClean="0"/>
              <a:t>10/2/25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6857-698F-0E4C-97BA-629E73ACF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743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3C688-D8FA-9B46-82D1-138CD23A974B}" type="datetimeFigureOut">
              <a:rPr lang="en-US" smtClean="0"/>
              <a:t>10/2/25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6857-698F-0E4C-97BA-629E73ACF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814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3C688-D8FA-9B46-82D1-138CD23A974B}" type="datetimeFigureOut">
              <a:rPr lang="en-US" smtClean="0"/>
              <a:t>10/2/25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6857-698F-0E4C-97BA-629E73ACF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989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9" y="1645920"/>
            <a:ext cx="14156053" cy="576072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3554732"/>
            <a:ext cx="22219920" cy="17545050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9" y="7406640"/>
            <a:ext cx="14156053" cy="13721717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3C688-D8FA-9B46-82D1-138CD23A974B}" type="datetimeFigureOut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6857-698F-0E4C-97BA-629E73ACF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98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9" y="1645920"/>
            <a:ext cx="14156053" cy="576072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3554732"/>
            <a:ext cx="22219920" cy="17545050"/>
          </a:xfrm>
        </p:spPr>
        <p:txBody>
          <a:bodyPr anchor="t"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9" y="7406640"/>
            <a:ext cx="14156053" cy="13721717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3C688-D8FA-9B46-82D1-138CD23A974B}" type="datetimeFigureOut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6857-698F-0E4C-97BA-629E73ACF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253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3C688-D8FA-9B46-82D1-138CD23A974B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6857-698F-0E4C-97BA-629E73ACF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90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0" y="1314450"/>
            <a:ext cx="9464040" cy="209226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0" y="1314450"/>
            <a:ext cx="27843480" cy="209226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3C688-D8FA-9B46-82D1-138CD23A974B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6857-698F-0E4C-97BA-629E73ACF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978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314452"/>
            <a:ext cx="37856160" cy="47720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6572250"/>
            <a:ext cx="37856160" cy="156648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22882862"/>
            <a:ext cx="9875520" cy="13144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33C688-D8FA-9B46-82D1-138CD23A974B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22882862"/>
            <a:ext cx="14813280" cy="13144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22882862"/>
            <a:ext cx="9875520" cy="13144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CD6857-698F-0E4C-97BA-629E73ACF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800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86482C-A404-0FE3-887D-655699483347}"/>
              </a:ext>
            </a:extLst>
          </p:cNvPr>
          <p:cNvSpPr/>
          <p:nvPr/>
        </p:nvSpPr>
        <p:spPr>
          <a:xfrm>
            <a:off x="0" y="0"/>
            <a:ext cx="43891200" cy="4648200"/>
          </a:xfrm>
          <a:prstGeom prst="rect">
            <a:avLst/>
          </a:prstGeom>
          <a:solidFill>
            <a:srgbClr val="001F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5261DD-06CF-7F59-812F-9B1D317A46C7}"/>
              </a:ext>
            </a:extLst>
          </p:cNvPr>
          <p:cNvSpPr txBox="1"/>
          <p:nvPr/>
        </p:nvSpPr>
        <p:spPr>
          <a:xfrm>
            <a:off x="6477000" y="322928"/>
            <a:ext cx="310896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National Trends in Osteomyelitis-Associated Mortality in the United States, 1999-2023</a:t>
            </a:r>
          </a:p>
          <a:p>
            <a:pPr algn="ctr"/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Krishna O. Sanaka BS</a:t>
            </a:r>
            <a:r>
              <a:rPr lang="en-US" sz="4000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Andrew L. Wang BS</a:t>
            </a:r>
            <a:r>
              <a:rPr lang="en-US" sz="4000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Rodrigo M. Carrillo-Larco MD, PhD</a:t>
            </a:r>
            <a:r>
              <a:rPr lang="en-US" sz="4000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3,4</a:t>
            </a:r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Marcos C. Schechter MD</a:t>
            </a:r>
            <a:r>
              <a:rPr lang="en-US" sz="4000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5,6</a:t>
            </a:r>
            <a:endParaRPr lang="en-US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 descr="A black and white logo&#10;&#10;AI-generated content may be incorrect.">
            <a:extLst>
              <a:ext uri="{FF2B5EF4-FFF2-40B4-BE49-F238E27FC236}">
                <a16:creationId xmlns:a16="http://schemas.microsoft.com/office/drawing/2014/main" id="{96B27DF2-41AA-7459-D9BC-864321F2BE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448050"/>
            <a:ext cx="4800600" cy="1294898"/>
          </a:xfrm>
          <a:prstGeom prst="rect">
            <a:avLst/>
          </a:prstGeom>
        </p:spPr>
      </p:pic>
      <p:pic>
        <p:nvPicPr>
          <p:cNvPr id="13" name="Picture 12" descr="A black and white logo&#10;&#10;AI-generated content may be incorrect.">
            <a:extLst>
              <a:ext uri="{FF2B5EF4-FFF2-40B4-BE49-F238E27FC236}">
                <a16:creationId xmlns:a16="http://schemas.microsoft.com/office/drawing/2014/main" id="{D19C19CE-ADF6-07A9-062D-B282B0F60A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71400" y="1004886"/>
            <a:ext cx="4800600" cy="21812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6EBDB45-BFBA-ED2D-21F0-F5DCF75D093C}"/>
              </a:ext>
            </a:extLst>
          </p:cNvPr>
          <p:cNvSpPr txBox="1"/>
          <p:nvPr/>
        </p:nvSpPr>
        <p:spPr>
          <a:xfrm>
            <a:off x="1828800" y="3493027"/>
            <a:ext cx="40309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Perelman School of Medicine, University of Pennsylvania, Philadelphia, PA, USA, 2. Geisel School of Medicine, Dartmouth College, Hanover, NH, USA , 3. Emory Global Diabetes Research Center of Woodruff Health Sciences Center, Emory University, Atlanta, GA, USA , 4. Hubert Department of Global Health, Rollins School of Public Health, Emory University, Atlanta, GA, USA , 5. Grady Health System, Atlanta, GA, USA , 6. Division of Infectious Diseases, Department of Medicine, School of Medicine, Emory University, Atlanta, GA, USA 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A954B3-5812-D95E-C2E4-98C35F8D27E1}"/>
              </a:ext>
            </a:extLst>
          </p:cNvPr>
          <p:cNvSpPr txBox="1"/>
          <p:nvPr/>
        </p:nvSpPr>
        <p:spPr>
          <a:xfrm>
            <a:off x="952500" y="5074104"/>
            <a:ext cx="11925300" cy="1015663"/>
          </a:xfrm>
          <a:prstGeom prst="rect">
            <a:avLst/>
          </a:prstGeom>
          <a:solidFill>
            <a:srgbClr val="001F5A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B4077E-5150-6BCB-F95D-40B5B1E598BC}"/>
              </a:ext>
            </a:extLst>
          </p:cNvPr>
          <p:cNvSpPr txBox="1"/>
          <p:nvPr/>
        </p:nvSpPr>
        <p:spPr>
          <a:xfrm>
            <a:off x="952500" y="8686800"/>
            <a:ext cx="11925300" cy="1015663"/>
          </a:xfrm>
          <a:prstGeom prst="rect">
            <a:avLst/>
          </a:prstGeom>
          <a:solidFill>
            <a:srgbClr val="001F5A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D2AA3D-13D7-832D-82F8-112FBAC633EA}"/>
              </a:ext>
            </a:extLst>
          </p:cNvPr>
          <p:cNvSpPr txBox="1"/>
          <p:nvPr/>
        </p:nvSpPr>
        <p:spPr>
          <a:xfrm>
            <a:off x="952500" y="13182600"/>
            <a:ext cx="11925300" cy="1015663"/>
          </a:xfrm>
          <a:prstGeom prst="rect">
            <a:avLst/>
          </a:prstGeom>
          <a:solidFill>
            <a:srgbClr val="001F5A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677536-7F6A-5A43-8703-4C29AA92DDF7}"/>
              </a:ext>
            </a:extLst>
          </p:cNvPr>
          <p:cNvSpPr txBox="1"/>
          <p:nvPr/>
        </p:nvSpPr>
        <p:spPr>
          <a:xfrm>
            <a:off x="952500" y="20687941"/>
            <a:ext cx="11925300" cy="1015663"/>
          </a:xfrm>
          <a:prstGeom prst="rect">
            <a:avLst/>
          </a:prstGeom>
          <a:solidFill>
            <a:srgbClr val="001F5A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633403-A29F-A772-A968-6348CC496F9F}"/>
              </a:ext>
            </a:extLst>
          </p:cNvPr>
          <p:cNvSpPr txBox="1"/>
          <p:nvPr/>
        </p:nvSpPr>
        <p:spPr>
          <a:xfrm>
            <a:off x="31013400" y="5050650"/>
            <a:ext cx="11925300" cy="984885"/>
          </a:xfrm>
          <a:prstGeom prst="rect">
            <a:avLst/>
          </a:prstGeom>
          <a:solidFill>
            <a:srgbClr val="001F5A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 1. Age-adjusted mortality rates over time for osteomyelitis by sex category.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7A5B9B-791E-DA62-FFE0-B45FEDA3996A}"/>
              </a:ext>
            </a:extLst>
          </p:cNvPr>
          <p:cNvSpPr txBox="1"/>
          <p:nvPr/>
        </p:nvSpPr>
        <p:spPr>
          <a:xfrm>
            <a:off x="15982948" y="5089492"/>
            <a:ext cx="11925300" cy="984885"/>
          </a:xfrm>
          <a:prstGeom prst="rect">
            <a:avLst/>
          </a:prstGeom>
          <a:solidFill>
            <a:srgbClr val="001F5A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 1. Age-adjusted mortality rates and annual percent changes for osteomyelitis by demographic group and comorbidity.</a:t>
            </a:r>
            <a:endParaRPr lang="en-US" sz="2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179546B6-36F8-1FA4-B9B0-132DD21630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907059"/>
              </p:ext>
            </p:extLst>
          </p:nvPr>
        </p:nvGraphicFramePr>
        <p:xfrm>
          <a:off x="15982950" y="6089767"/>
          <a:ext cx="11925298" cy="18276105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703614">
                  <a:extLst>
                    <a:ext uri="{9D8B030D-6E8A-4147-A177-3AD203B41FA5}">
                      <a16:colId xmlns:a16="http://schemas.microsoft.com/office/drawing/2014/main" val="2034318467"/>
                    </a:ext>
                  </a:extLst>
                </a:gridCol>
                <a:gridCol w="1703614">
                  <a:extLst>
                    <a:ext uri="{9D8B030D-6E8A-4147-A177-3AD203B41FA5}">
                      <a16:colId xmlns:a16="http://schemas.microsoft.com/office/drawing/2014/main" val="1471593622"/>
                    </a:ext>
                  </a:extLst>
                </a:gridCol>
                <a:gridCol w="1703614">
                  <a:extLst>
                    <a:ext uri="{9D8B030D-6E8A-4147-A177-3AD203B41FA5}">
                      <a16:colId xmlns:a16="http://schemas.microsoft.com/office/drawing/2014/main" val="3294304426"/>
                    </a:ext>
                  </a:extLst>
                </a:gridCol>
                <a:gridCol w="1703614">
                  <a:extLst>
                    <a:ext uri="{9D8B030D-6E8A-4147-A177-3AD203B41FA5}">
                      <a16:colId xmlns:a16="http://schemas.microsoft.com/office/drawing/2014/main" val="1739074477"/>
                    </a:ext>
                  </a:extLst>
                </a:gridCol>
                <a:gridCol w="1703614">
                  <a:extLst>
                    <a:ext uri="{9D8B030D-6E8A-4147-A177-3AD203B41FA5}">
                      <a16:colId xmlns:a16="http://schemas.microsoft.com/office/drawing/2014/main" val="2365358816"/>
                    </a:ext>
                  </a:extLst>
                </a:gridCol>
                <a:gridCol w="1703614">
                  <a:extLst>
                    <a:ext uri="{9D8B030D-6E8A-4147-A177-3AD203B41FA5}">
                      <a16:colId xmlns:a16="http://schemas.microsoft.com/office/drawing/2014/main" val="2266968882"/>
                    </a:ext>
                  </a:extLst>
                </a:gridCol>
                <a:gridCol w="1703614">
                  <a:extLst>
                    <a:ext uri="{9D8B030D-6E8A-4147-A177-3AD203B41FA5}">
                      <a16:colId xmlns:a16="http://schemas.microsoft.com/office/drawing/2014/main" val="1744377363"/>
                    </a:ext>
                  </a:extLst>
                </a:gridCol>
              </a:tblGrid>
              <a:tr h="1739268"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solidFill>
                            <a:srgbClr val="001F5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 dirty="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1999 AAMR</a:t>
                      </a:r>
                      <a:endParaRPr lang="en-US" sz="2400" kern="100" dirty="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1999 Deaths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 dirty="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2023 AAMR</a:t>
                      </a:r>
                      <a:endParaRPr lang="en-US" sz="2400" kern="100" dirty="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 dirty="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2023 Deaths</a:t>
                      </a:r>
                      <a:endParaRPr lang="en-US" sz="2400" kern="100" dirty="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APC (95% CI) (%)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 dirty="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p-value</a:t>
                      </a:r>
                      <a:endParaRPr lang="en-US" sz="2400" kern="100" dirty="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01593216"/>
                  </a:ext>
                </a:extLst>
              </a:tr>
              <a:tr h="107002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 dirty="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Overall</a:t>
                      </a:r>
                      <a:endParaRPr lang="en-US" sz="2400" kern="100" dirty="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1,068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1.11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4,677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3.54 (2.8, 4.28)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&lt;0.001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9473276"/>
                  </a:ext>
                </a:extLst>
              </a:tr>
              <a:tr h="107002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Male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0.47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488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1.44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2,700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3.92 (3.23, 4.61)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&lt;0.001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94254466"/>
                  </a:ext>
                </a:extLst>
              </a:tr>
              <a:tr h="107002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Female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0.33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580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0.83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1,977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3.05 (2.21, 3.89)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&lt;0.001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5072522"/>
                  </a:ext>
                </a:extLst>
              </a:tr>
              <a:tr h="107002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 White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831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1.08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3,381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4.01 (3.28, 4.75)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&lt;0.001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75857371"/>
                  </a:ext>
                </a:extLst>
              </a:tr>
              <a:tr h="107002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 Black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0.76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166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821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2.49 (1.37, 3.62)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 dirty="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&lt;0.001</a:t>
                      </a:r>
                      <a:endParaRPr lang="en-US" sz="2400" kern="100" dirty="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54130959"/>
                  </a:ext>
                </a:extLst>
              </a:tr>
              <a:tr h="107002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Hispanic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0.73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326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2.29 (1.45, 3.15)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&lt;0.001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25661607"/>
                  </a:ext>
                </a:extLst>
              </a:tr>
              <a:tr h="12321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Asian or Pacific Islander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N/A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71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3.24 (0.85, 5.68)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0.11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56424232"/>
                  </a:ext>
                </a:extLst>
              </a:tr>
              <a:tr h="12321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American Indian/Alaska Native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N/A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1.83</a:t>
                      </a:r>
                      <a:endParaRPr lang="en-US" sz="2400" kern="100" dirty="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47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6.79 (2.68, 11.08)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0.005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16831056"/>
                  </a:ext>
                </a:extLst>
              </a:tr>
              <a:tr h="107002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0-34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N/A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0.02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&lt;0.001 (0, &lt;0.001)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0.08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30169657"/>
                  </a:ext>
                </a:extLst>
              </a:tr>
              <a:tr h="107002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35-64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0.15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155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0.67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855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6.08 (5.47, 6.7)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&lt;0.001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69640183"/>
                  </a:ext>
                </a:extLst>
              </a:tr>
              <a:tr h="107002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65+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2.61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907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6.4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3,789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2.9 (2.2, 3.6)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&lt;0.001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91628366"/>
                  </a:ext>
                </a:extLst>
              </a:tr>
              <a:tr h="107002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Diabetes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771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0.83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3,532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4.04 (3.03, 5.07)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&lt;0.001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27838658"/>
                  </a:ext>
                </a:extLst>
              </a:tr>
              <a:tr h="12321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Peripheral Vascular Disease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0.06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176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0.21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939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5.27 (4.19, 6.36)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&lt;0.001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5583628"/>
                  </a:ext>
                </a:extLst>
              </a:tr>
              <a:tr h="107002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Trauma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0.02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0.06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281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6.85 (5.09, 8.64)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&lt;0.001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27175885"/>
                  </a:ext>
                </a:extLst>
              </a:tr>
              <a:tr h="107002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Decubitus Ulcer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0.07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210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0.27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1,210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6.17 (5.32, 7.04)</a:t>
                      </a:r>
                      <a:endParaRPr lang="en-US" sz="2400" kern="100" dirty="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 dirty="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&lt;0.001</a:t>
                      </a:r>
                      <a:endParaRPr lang="en-US" sz="2400" kern="100" dirty="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93037508"/>
                  </a:ext>
                </a:extLst>
              </a:tr>
            </a:tbl>
          </a:graphicData>
        </a:graphic>
      </p:graphicFrame>
      <p:pic>
        <p:nvPicPr>
          <p:cNvPr id="24" name="Picture 23">
            <a:extLst>
              <a:ext uri="{FF2B5EF4-FFF2-40B4-BE49-F238E27FC236}">
                <a16:creationId xmlns:a16="http://schemas.microsoft.com/office/drawing/2014/main" id="{8B364C8E-AD84-EFC4-B7D0-4D60991A0884}"/>
              </a:ext>
            </a:extLst>
          </p:cNvPr>
          <p:cNvPicPr>
            <a:picLocks/>
          </p:cNvPicPr>
          <p:nvPr/>
        </p:nvPicPr>
        <p:blipFill>
          <a:blip r:embed="rId5"/>
          <a:srcRect/>
          <a:stretch/>
        </p:blipFill>
        <p:spPr>
          <a:xfrm>
            <a:off x="31010084" y="6035536"/>
            <a:ext cx="11925298" cy="85953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D01B9A3-7935-5CE6-9A58-B450CF7799F6}"/>
              </a:ext>
            </a:extLst>
          </p:cNvPr>
          <p:cNvSpPr txBox="1"/>
          <p:nvPr/>
        </p:nvSpPr>
        <p:spPr>
          <a:xfrm>
            <a:off x="31010083" y="14785627"/>
            <a:ext cx="11925300" cy="984885"/>
          </a:xfrm>
          <a:prstGeom prst="rect">
            <a:avLst/>
          </a:prstGeom>
          <a:solidFill>
            <a:srgbClr val="001F5A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 2. Age-adjusted mortality rates over time for osteomyelitis by racial/ethnic category.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A3991C2-3395-3C2F-FCF7-6D17D9483A0E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31010085" y="15770512"/>
            <a:ext cx="11925298" cy="859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305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572</TotalTime>
  <Words>432</Words>
  <Application>Microsoft Macintosh PowerPoint</Application>
  <PresentationFormat>Custom</PresentationFormat>
  <Paragraphs>123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Sanaka, Krishna</dc:creator>
  <cp:lastModifiedBy>Sanaka, Krishna</cp:lastModifiedBy>
  <cp:revision>19</cp:revision>
  <dcterms:created xsi:type="dcterms:W3CDTF">2025-10-03T03:24:23Z</dcterms:created>
  <dcterms:modified xsi:type="dcterms:W3CDTF">2025-10-03T12:56:46Z</dcterms:modified>
</cp:coreProperties>
</file>