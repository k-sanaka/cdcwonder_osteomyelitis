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3"/>
  </p:notesMasterIdLst>
  <p:sldIdLst>
    <p:sldId id="256" r:id="rId2"/>
  </p:sldIdLst>
  <p:sldSz cx="43891200" cy="2468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6" userDrawn="1">
          <p15:clr>
            <a:srgbClr val="A4A3A4"/>
          </p15:clr>
        </p15:guide>
        <p15:guide id="2" pos="1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F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29"/>
  </p:normalViewPr>
  <p:slideViewPr>
    <p:cSldViewPr>
      <p:cViewPr>
        <p:scale>
          <a:sx n="36" d="100"/>
          <a:sy n="36" d="100"/>
        </p:scale>
        <p:origin x="168" y="-224"/>
      </p:cViewPr>
      <p:guideLst>
        <p:guide orient="horz" pos="7776"/>
        <p:guide pos="138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B60DD-92DA-DE4C-8CF8-CDF03E8A2060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78965-1FB0-CC42-AE82-A9AE2575C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90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1pPr>
    <a:lvl2pPr marL="652885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2pPr>
    <a:lvl3pPr marL="1305765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3pPr>
    <a:lvl4pPr marL="1958649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4pPr>
    <a:lvl5pPr marL="2611534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5pPr>
    <a:lvl6pPr marL="3264419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6pPr>
    <a:lvl7pPr marL="3917299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7pPr>
    <a:lvl8pPr marL="4570183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8pPr>
    <a:lvl9pPr marL="5223068" algn="l" defTabSz="1305765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978965-1FB0-CC42-AE82-A9AE2575C0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4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4040507"/>
            <a:ext cx="32918400" cy="859536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2967337"/>
            <a:ext cx="32918400" cy="5960743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7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86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6155059"/>
            <a:ext cx="37856160" cy="10269853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16522069"/>
            <a:ext cx="37856160" cy="5400673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5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6572250"/>
            <a:ext cx="18653760" cy="15664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6572250"/>
            <a:ext cx="18653760" cy="15664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5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314452"/>
            <a:ext cx="37856160" cy="47720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6052187"/>
            <a:ext cx="18568033" cy="2966083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9018270"/>
            <a:ext cx="18568033" cy="13264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6052187"/>
            <a:ext cx="18659477" cy="2966083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9018270"/>
            <a:ext cx="18659477" cy="132645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43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1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89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645920"/>
            <a:ext cx="14156053" cy="57607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3554732"/>
            <a:ext cx="22219920" cy="1754505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7406640"/>
            <a:ext cx="14156053" cy="1372171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8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1645920"/>
            <a:ext cx="14156053" cy="576072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3554732"/>
            <a:ext cx="22219920" cy="1754505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7406640"/>
            <a:ext cx="14156053" cy="13721717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5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314450"/>
            <a:ext cx="9464040" cy="209226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314450"/>
            <a:ext cx="27843480" cy="209226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78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314452"/>
            <a:ext cx="37856160" cy="47720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6572250"/>
            <a:ext cx="37856160" cy="156648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22882862"/>
            <a:ext cx="987552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33C688-D8FA-9B46-82D1-138CD23A974B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22882862"/>
            <a:ext cx="1481328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22882862"/>
            <a:ext cx="9875520" cy="1314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CD6857-698F-0E4C-97BA-629E73AC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00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86482C-A404-0FE3-887D-655699483347}"/>
              </a:ext>
            </a:extLst>
          </p:cNvPr>
          <p:cNvSpPr/>
          <p:nvPr/>
        </p:nvSpPr>
        <p:spPr>
          <a:xfrm>
            <a:off x="0" y="0"/>
            <a:ext cx="43891200" cy="4648200"/>
          </a:xfrm>
          <a:prstGeom prst="rect">
            <a:avLst/>
          </a:prstGeom>
          <a:solidFill>
            <a:srgbClr val="001F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5261DD-06CF-7F59-812F-9B1D317A46C7}"/>
              </a:ext>
            </a:extLst>
          </p:cNvPr>
          <p:cNvSpPr txBox="1"/>
          <p:nvPr/>
        </p:nvSpPr>
        <p:spPr>
          <a:xfrm>
            <a:off x="6477000" y="322928"/>
            <a:ext cx="3108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Trends in Osteomyelitis-Associated Mortality in the United States, 1999-2023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Krishna O. Sanaka BS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Andrew L. Wang BS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Rodrigo M. Carrillo-Larco MD, PhD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3,4</a:t>
            </a:r>
            <a:r>
              <a:rPr lang="en-US" sz="4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Marcos C. Schechter MD</a:t>
            </a:r>
            <a:r>
              <a:rPr lang="en-US" sz="4000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5,6</a:t>
            </a:r>
            <a:endParaRPr lang="en-US" sz="4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96B27DF2-41AA-7459-D9BC-864321F2B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448050"/>
            <a:ext cx="4800600" cy="1294898"/>
          </a:xfrm>
          <a:prstGeom prst="rect">
            <a:avLst/>
          </a:prstGeom>
        </p:spPr>
      </p:pic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D19C19CE-ADF6-07A9-062D-B282B0F60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1400" y="1004886"/>
            <a:ext cx="4800600" cy="21812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EBDB45-BFBA-ED2D-21F0-F5DCF75D093C}"/>
              </a:ext>
            </a:extLst>
          </p:cNvPr>
          <p:cNvSpPr txBox="1"/>
          <p:nvPr/>
        </p:nvSpPr>
        <p:spPr>
          <a:xfrm>
            <a:off x="1828800" y="3493027"/>
            <a:ext cx="40309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Perelman School of Medicine, University of Pennsylvania, Philadelphia, PA, USA, 2. Geisel School of Medicine, Dartmouth College, Hanover, NH, USA , 3. Emory Global Diabetes Research Center of Woodruff Health Sciences Center, Emory University, Atlanta, GA, USA , 4. Hubert Department of Global Health, Rollins School of Public Health, Emory University, Atlanta, GA, USA , 5. Grady Health System, Atlanta, GA, USA , 6. Division of Infectious Diseases, Department of Medicine, School of Medicine, Emory University, Atlanta, GA, USA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A954B3-5812-D95E-C2E4-98C35F8D27E1}"/>
              </a:ext>
            </a:extLst>
          </p:cNvPr>
          <p:cNvSpPr txBox="1"/>
          <p:nvPr/>
        </p:nvSpPr>
        <p:spPr>
          <a:xfrm>
            <a:off x="952500" y="5074104"/>
            <a:ext cx="9182100" cy="1015663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B4077E-5150-6BCB-F95D-40B5B1E598BC}"/>
              </a:ext>
            </a:extLst>
          </p:cNvPr>
          <p:cNvSpPr txBox="1"/>
          <p:nvPr/>
        </p:nvSpPr>
        <p:spPr>
          <a:xfrm>
            <a:off x="945860" y="12406242"/>
            <a:ext cx="9182100" cy="1015663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D2AA3D-13D7-832D-82F8-112FBAC633EA}"/>
              </a:ext>
            </a:extLst>
          </p:cNvPr>
          <p:cNvSpPr txBox="1"/>
          <p:nvPr/>
        </p:nvSpPr>
        <p:spPr>
          <a:xfrm>
            <a:off x="952500" y="20233803"/>
            <a:ext cx="9182100" cy="1015663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77536-7F6A-5A43-8703-4C29AA92DDF7}"/>
              </a:ext>
            </a:extLst>
          </p:cNvPr>
          <p:cNvSpPr txBox="1"/>
          <p:nvPr/>
        </p:nvSpPr>
        <p:spPr>
          <a:xfrm>
            <a:off x="33756596" y="16662805"/>
            <a:ext cx="9182100" cy="1015663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633403-A29F-A772-A968-6348CC496F9F}"/>
              </a:ext>
            </a:extLst>
          </p:cNvPr>
          <p:cNvSpPr txBox="1"/>
          <p:nvPr/>
        </p:nvSpPr>
        <p:spPr>
          <a:xfrm>
            <a:off x="33756596" y="5050650"/>
            <a:ext cx="9182104" cy="1015663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(cont.)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7A5B9B-791E-DA62-FFE0-B45FEDA3996A}"/>
              </a:ext>
            </a:extLst>
          </p:cNvPr>
          <p:cNvSpPr txBox="1"/>
          <p:nvPr/>
        </p:nvSpPr>
        <p:spPr>
          <a:xfrm>
            <a:off x="11834413" y="14092096"/>
            <a:ext cx="20235660" cy="984885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1. Age-adjusted mortality rates and annual percent changes for osteomyelitis by demographic group and comorbidity.*</a:t>
            </a:r>
            <a:endParaRPr lang="en-US" sz="2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79546B6-36F8-1FA4-B9B0-132DD2163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804482"/>
              </p:ext>
            </p:extLst>
          </p:nvPr>
        </p:nvGraphicFramePr>
        <p:xfrm>
          <a:off x="11857146" y="15076981"/>
          <a:ext cx="20212920" cy="877797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87560">
                  <a:extLst>
                    <a:ext uri="{9D8B030D-6E8A-4147-A177-3AD203B41FA5}">
                      <a16:colId xmlns:a16="http://schemas.microsoft.com/office/drawing/2014/main" val="2034318467"/>
                    </a:ext>
                  </a:extLst>
                </a:gridCol>
                <a:gridCol w="2887560">
                  <a:extLst>
                    <a:ext uri="{9D8B030D-6E8A-4147-A177-3AD203B41FA5}">
                      <a16:colId xmlns:a16="http://schemas.microsoft.com/office/drawing/2014/main" val="1471593622"/>
                    </a:ext>
                  </a:extLst>
                </a:gridCol>
                <a:gridCol w="2887560">
                  <a:extLst>
                    <a:ext uri="{9D8B030D-6E8A-4147-A177-3AD203B41FA5}">
                      <a16:colId xmlns:a16="http://schemas.microsoft.com/office/drawing/2014/main" val="3294304426"/>
                    </a:ext>
                  </a:extLst>
                </a:gridCol>
                <a:gridCol w="2887560">
                  <a:extLst>
                    <a:ext uri="{9D8B030D-6E8A-4147-A177-3AD203B41FA5}">
                      <a16:colId xmlns:a16="http://schemas.microsoft.com/office/drawing/2014/main" val="1739074477"/>
                    </a:ext>
                  </a:extLst>
                </a:gridCol>
                <a:gridCol w="2887560">
                  <a:extLst>
                    <a:ext uri="{9D8B030D-6E8A-4147-A177-3AD203B41FA5}">
                      <a16:colId xmlns:a16="http://schemas.microsoft.com/office/drawing/2014/main" val="2365358816"/>
                    </a:ext>
                  </a:extLst>
                </a:gridCol>
                <a:gridCol w="2887560">
                  <a:extLst>
                    <a:ext uri="{9D8B030D-6E8A-4147-A177-3AD203B41FA5}">
                      <a16:colId xmlns:a16="http://schemas.microsoft.com/office/drawing/2014/main" val="2266968882"/>
                    </a:ext>
                  </a:extLst>
                </a:gridCol>
                <a:gridCol w="2887560">
                  <a:extLst>
                    <a:ext uri="{9D8B030D-6E8A-4147-A177-3AD203B41FA5}">
                      <a16:colId xmlns:a16="http://schemas.microsoft.com/office/drawing/2014/main" val="1744377363"/>
                    </a:ext>
                  </a:extLst>
                </a:gridCol>
              </a:tblGrid>
              <a:tr h="708736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rgbClr val="001F5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 AAMR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1999 Deaths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 AAMR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 Deaths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APC (95% CI) (%)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p-value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1593216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1,068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4,677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3.54 (2.8, 4.28)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473276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Male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1.44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2,700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3.92 (3.23, 4.61)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4254466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Female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1,977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3.05 (2.21, 3.89)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072522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 White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831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3,381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4.01 (3.28, 4.75)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5857371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 Black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821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2.49 (1.37, 3.62)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4130959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Hispanic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2.29 (1.45, 3.15)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5661607"/>
                  </a:ext>
                </a:extLst>
              </a:tr>
              <a:tr h="5021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Asian or Pacific Islander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3.24 (0.85, 5.68)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6424232"/>
                  </a:ext>
                </a:extLst>
              </a:tr>
              <a:tr h="5021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American Indian/Alaska Native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1.83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6.79 (2.68, 11.08)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6831056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0-34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N/A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 (0, &lt;0.001)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0169657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35-64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855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6.08 (5.47, 6.7)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9640183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65+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6.4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3,789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2.9 (2.2, 3.6)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1628366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Diabetes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771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3,532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4.04 (3.03, 5.07)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7838658"/>
                  </a:ext>
                </a:extLst>
              </a:tr>
              <a:tr h="50210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Peripheral Vascular Disease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939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5.27 (4.19, 6.36)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583628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Trauma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6.85 (5.09, 8.64)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7175885"/>
                  </a:ext>
                </a:extLst>
              </a:tr>
              <a:tr h="4360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Decubitus Ulcer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210</a:t>
                      </a:r>
                      <a:endParaRPr lang="en-US" sz="2400" kern="10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1,210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6.17 (5.32, 7.04)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b="1" kern="100" dirty="0">
                          <a:solidFill>
                            <a:srgbClr val="001F5A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&lt;0.001</a:t>
                      </a:r>
                      <a:endParaRPr lang="en-US" sz="2400" kern="100" dirty="0">
                        <a:solidFill>
                          <a:srgbClr val="001F5A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3037508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8B364C8E-AD84-EFC4-B7D0-4D60991A0884}"/>
              </a:ext>
            </a:extLst>
          </p:cNvPr>
          <p:cNvPicPr>
            <a:picLocks/>
          </p:cNvPicPr>
          <p:nvPr/>
        </p:nvPicPr>
        <p:blipFill>
          <a:blip r:embed="rId5"/>
          <a:srcRect/>
          <a:stretch/>
        </p:blipFill>
        <p:spPr>
          <a:xfrm>
            <a:off x="11857146" y="6035534"/>
            <a:ext cx="9301639" cy="805656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A3991C2-3395-3C2F-FCF7-6D17D9483A0E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2881331" y="6035534"/>
            <a:ext cx="9182101" cy="805656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951D9B9-B8D4-92F6-8092-72B4E40FE8C8}"/>
              </a:ext>
            </a:extLst>
          </p:cNvPr>
          <p:cNvSpPr txBox="1"/>
          <p:nvPr/>
        </p:nvSpPr>
        <p:spPr>
          <a:xfrm>
            <a:off x="952500" y="6096250"/>
            <a:ext cx="91821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Osteomyelitis is a serious infection linked to prolonged hospitalizations, amputations, and high mortality in vulnerable groups.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Despite clinical advances, national trends in osteomyelitis mortality remain poorly characterized.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We aimed to describe population-level mortality patterns associated with osteomyelitis in the United States from 1999–2023.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E519B4-EBF5-E8D4-7049-3F9535591C92}"/>
              </a:ext>
            </a:extLst>
          </p:cNvPr>
          <p:cNvSpPr txBox="1"/>
          <p:nvPr/>
        </p:nvSpPr>
        <p:spPr>
          <a:xfrm>
            <a:off x="959141" y="13421905"/>
            <a:ext cx="91821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Retrospective, population-based analysis of CDC WONDER Multiple Cause of Death database, all United States deaths (1999- 2023).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Death certificates with osteomyelitis (M86) as an underlying or contributing cause were identified.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Log-linear regression models to estimate the annual percent change (APC) in age-adjusted mortality rates (AAMRs) with stratifications for demographic subgroups.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0D4586-DF00-4B8A-1E0C-360F50465325}"/>
              </a:ext>
            </a:extLst>
          </p:cNvPr>
          <p:cNvSpPr txBox="1"/>
          <p:nvPr/>
        </p:nvSpPr>
        <p:spPr>
          <a:xfrm>
            <a:off x="33763240" y="6137083"/>
            <a:ext cx="918210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Among underlying-cause deaths,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54.02%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were men and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74.28%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were non-Hispanic White.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Most common comorbidities: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Diabetes (29.64%)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Decubitus ulcers (9.48%)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Peripheral vascular disease (7.93%)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Trauma (2.66%)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AAMR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increased from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0.38 per 100,000 (1999)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1.11 per 100,000 (2023)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APC: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3.54% (95% CI: 2.8–4.28; 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&lt; 0.001)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Most demographic subgroups showed significant increases in AAMR: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Both sexes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Non-Hispanic White, Non-Hispanic Black, and Hispanic populations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Asian and Pacific Islander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residents did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experience a significant increase.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48F161-AAD4-9963-0EE1-E7894B634019}"/>
              </a:ext>
            </a:extLst>
          </p:cNvPr>
          <p:cNvSpPr txBox="1"/>
          <p:nvPr/>
        </p:nvSpPr>
        <p:spPr>
          <a:xfrm>
            <a:off x="33763240" y="17678468"/>
            <a:ext cx="91821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Osteomyelitis mortality rates have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steadily increased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over the past two decades.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Demographic disparities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persist across subgroups.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Findings highlight the need for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improved prevention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earlier diagnosis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targeted interventions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high-burden populations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E98A6-5B03-F5EC-0489-1A81ED26FFA1}"/>
              </a:ext>
            </a:extLst>
          </p:cNvPr>
          <p:cNvSpPr txBox="1"/>
          <p:nvPr/>
        </p:nvSpPr>
        <p:spPr>
          <a:xfrm>
            <a:off x="11857146" y="5050649"/>
            <a:ext cx="9188740" cy="984885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1. Age-adjusted mortality rates over time for osteomyelitis by sex category.*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36DD4F-1B90-D73B-9F0D-FDBB6AB06BF5}"/>
              </a:ext>
            </a:extLst>
          </p:cNvPr>
          <p:cNvSpPr txBox="1"/>
          <p:nvPr/>
        </p:nvSpPr>
        <p:spPr>
          <a:xfrm>
            <a:off x="22881331" y="5050649"/>
            <a:ext cx="9188742" cy="984885"/>
          </a:xfrm>
          <a:prstGeom prst="rect">
            <a:avLst/>
          </a:prstGeom>
          <a:solidFill>
            <a:srgbClr val="001F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2. Age-adjusted mortality rates over time for osteomyelitis by racial/ethnic category.*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B7C89-9562-5FD7-615E-A831B27B35E4}"/>
              </a:ext>
            </a:extLst>
          </p:cNvPr>
          <p:cNvSpPr txBox="1"/>
          <p:nvPr/>
        </p:nvSpPr>
        <p:spPr>
          <a:xfrm>
            <a:off x="959141" y="21321057"/>
            <a:ext cx="9182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From 1999–2023,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55,976 deaths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listed osteomyelitis as the 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underlying cause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131,490 deaths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listed it as a 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contributing cause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7377F7-DC6E-BFD0-A3B2-50436C7BD115}"/>
              </a:ext>
            </a:extLst>
          </p:cNvPr>
          <p:cNvSpPr txBox="1"/>
          <p:nvPr/>
        </p:nvSpPr>
        <p:spPr>
          <a:xfrm>
            <a:off x="11857146" y="23854955"/>
            <a:ext cx="20206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* All estimates and statistics are computed based on osteomyelitis as an underlying cause of death.</a:t>
            </a:r>
          </a:p>
        </p:txBody>
      </p:sp>
    </p:spTree>
    <p:extLst>
      <p:ext uri="{BB962C8B-B14F-4D97-AF65-F5344CB8AC3E}">
        <p14:creationId xmlns:p14="http://schemas.microsoft.com/office/powerpoint/2010/main" val="2813305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1200</TotalTime>
  <Words>722</Words>
  <Application>Microsoft Macintosh PowerPoint</Application>
  <PresentationFormat>Custom</PresentationFormat>
  <Paragraphs>147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Sanaka, Krishna</dc:creator>
  <cp:lastModifiedBy>Sanaka, Krishna</cp:lastModifiedBy>
  <cp:revision>65</cp:revision>
  <dcterms:created xsi:type="dcterms:W3CDTF">2025-10-03T03:24:23Z</dcterms:created>
  <dcterms:modified xsi:type="dcterms:W3CDTF">2025-10-06T16:00:16Z</dcterms:modified>
</cp:coreProperties>
</file>