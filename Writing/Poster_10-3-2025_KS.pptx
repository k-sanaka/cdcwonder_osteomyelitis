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3"/>
  </p:notesMasterIdLst>
  <p:sldIdLst>
    <p:sldId id="256" r:id="rId2"/>
  </p:sldIdLst>
  <p:sldSz cx="43891200" cy="246888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776" userDrawn="1">
          <p15:clr>
            <a:srgbClr val="A4A3A4"/>
          </p15:clr>
        </p15:guide>
        <p15:guide id="2" pos="138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1F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94729"/>
  </p:normalViewPr>
  <p:slideViewPr>
    <p:cSldViewPr>
      <p:cViewPr>
        <p:scale>
          <a:sx n="33" d="100"/>
          <a:sy n="33" d="100"/>
        </p:scale>
        <p:origin x="552" y="176"/>
      </p:cViewPr>
      <p:guideLst>
        <p:guide orient="horz" pos="7776"/>
        <p:guide pos="13848"/>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CB60DD-92DA-DE4C-8CF8-CDF03E8A2060}" type="datetimeFigureOut">
              <a:rPr lang="en-US" smtClean="0"/>
              <a:t>10/3/25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978965-1FB0-CC42-AE82-A9AE2575C095}" type="slidenum">
              <a:rPr lang="en-US" smtClean="0"/>
              <a:t>‹#›</a:t>
            </a:fld>
            <a:endParaRPr lang="en-US"/>
          </a:p>
        </p:txBody>
      </p:sp>
    </p:spTree>
    <p:extLst>
      <p:ext uri="{BB962C8B-B14F-4D97-AF65-F5344CB8AC3E}">
        <p14:creationId xmlns:p14="http://schemas.microsoft.com/office/powerpoint/2010/main" val="516690173"/>
      </p:ext>
    </p:extLst>
  </p:cSld>
  <p:clrMap bg1="lt1" tx1="dk1" bg2="lt2" tx2="dk2" accent1="accent1" accent2="accent2" accent3="accent3" accent4="accent4" accent5="accent5" accent6="accent6" hlink="hlink" folHlink="folHlink"/>
  <p:notesStyle>
    <a:lvl1pPr marL="0" algn="l" defTabSz="1305765" rtl="0" eaLnBrk="1" latinLnBrk="0" hangingPunct="1">
      <a:defRPr sz="1713" kern="1200">
        <a:solidFill>
          <a:schemeClr val="tx1"/>
        </a:solidFill>
        <a:latin typeface="+mn-lt"/>
        <a:ea typeface="+mn-ea"/>
        <a:cs typeface="+mn-cs"/>
      </a:defRPr>
    </a:lvl1pPr>
    <a:lvl2pPr marL="652885" algn="l" defTabSz="1305765" rtl="0" eaLnBrk="1" latinLnBrk="0" hangingPunct="1">
      <a:defRPr sz="1713" kern="1200">
        <a:solidFill>
          <a:schemeClr val="tx1"/>
        </a:solidFill>
        <a:latin typeface="+mn-lt"/>
        <a:ea typeface="+mn-ea"/>
        <a:cs typeface="+mn-cs"/>
      </a:defRPr>
    </a:lvl2pPr>
    <a:lvl3pPr marL="1305765" algn="l" defTabSz="1305765" rtl="0" eaLnBrk="1" latinLnBrk="0" hangingPunct="1">
      <a:defRPr sz="1713" kern="1200">
        <a:solidFill>
          <a:schemeClr val="tx1"/>
        </a:solidFill>
        <a:latin typeface="+mn-lt"/>
        <a:ea typeface="+mn-ea"/>
        <a:cs typeface="+mn-cs"/>
      </a:defRPr>
    </a:lvl3pPr>
    <a:lvl4pPr marL="1958649" algn="l" defTabSz="1305765" rtl="0" eaLnBrk="1" latinLnBrk="0" hangingPunct="1">
      <a:defRPr sz="1713" kern="1200">
        <a:solidFill>
          <a:schemeClr val="tx1"/>
        </a:solidFill>
        <a:latin typeface="+mn-lt"/>
        <a:ea typeface="+mn-ea"/>
        <a:cs typeface="+mn-cs"/>
      </a:defRPr>
    </a:lvl4pPr>
    <a:lvl5pPr marL="2611534" algn="l" defTabSz="1305765" rtl="0" eaLnBrk="1" latinLnBrk="0" hangingPunct="1">
      <a:defRPr sz="1713" kern="1200">
        <a:solidFill>
          <a:schemeClr val="tx1"/>
        </a:solidFill>
        <a:latin typeface="+mn-lt"/>
        <a:ea typeface="+mn-ea"/>
        <a:cs typeface="+mn-cs"/>
      </a:defRPr>
    </a:lvl5pPr>
    <a:lvl6pPr marL="3264419" algn="l" defTabSz="1305765" rtl="0" eaLnBrk="1" latinLnBrk="0" hangingPunct="1">
      <a:defRPr sz="1713" kern="1200">
        <a:solidFill>
          <a:schemeClr val="tx1"/>
        </a:solidFill>
        <a:latin typeface="+mn-lt"/>
        <a:ea typeface="+mn-ea"/>
        <a:cs typeface="+mn-cs"/>
      </a:defRPr>
    </a:lvl6pPr>
    <a:lvl7pPr marL="3917299" algn="l" defTabSz="1305765" rtl="0" eaLnBrk="1" latinLnBrk="0" hangingPunct="1">
      <a:defRPr sz="1713" kern="1200">
        <a:solidFill>
          <a:schemeClr val="tx1"/>
        </a:solidFill>
        <a:latin typeface="+mn-lt"/>
        <a:ea typeface="+mn-ea"/>
        <a:cs typeface="+mn-cs"/>
      </a:defRPr>
    </a:lvl7pPr>
    <a:lvl8pPr marL="4570183" algn="l" defTabSz="1305765" rtl="0" eaLnBrk="1" latinLnBrk="0" hangingPunct="1">
      <a:defRPr sz="1713" kern="1200">
        <a:solidFill>
          <a:schemeClr val="tx1"/>
        </a:solidFill>
        <a:latin typeface="+mn-lt"/>
        <a:ea typeface="+mn-ea"/>
        <a:cs typeface="+mn-cs"/>
      </a:defRPr>
    </a:lvl8pPr>
    <a:lvl9pPr marL="5223068" algn="l" defTabSz="1305765" rtl="0" eaLnBrk="1" latinLnBrk="0" hangingPunct="1">
      <a:defRPr sz="171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978965-1FB0-CC42-AE82-A9AE2575C095}" type="slidenum">
              <a:rPr lang="en-US" smtClean="0"/>
              <a:t>1</a:t>
            </a:fld>
            <a:endParaRPr lang="en-US"/>
          </a:p>
        </p:txBody>
      </p:sp>
    </p:spTree>
    <p:extLst>
      <p:ext uri="{BB962C8B-B14F-4D97-AF65-F5344CB8AC3E}">
        <p14:creationId xmlns:p14="http://schemas.microsoft.com/office/powerpoint/2010/main" val="144654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0" y="4040507"/>
            <a:ext cx="32918400" cy="8595360"/>
          </a:xfrm>
        </p:spPr>
        <p:txBody>
          <a:bodyPr anchor="b"/>
          <a:lstStyle>
            <a:lvl1pPr algn="ctr">
              <a:defRPr sz="21600"/>
            </a:lvl1pPr>
          </a:lstStyle>
          <a:p>
            <a:r>
              <a:rPr lang="en-US"/>
              <a:t>Click to edit Master title style</a:t>
            </a:r>
            <a:endParaRPr lang="en-US" dirty="0"/>
          </a:p>
        </p:txBody>
      </p:sp>
      <p:sp>
        <p:nvSpPr>
          <p:cNvPr id="3" name="Subtitle 2"/>
          <p:cNvSpPr>
            <a:spLocks noGrp="1"/>
          </p:cNvSpPr>
          <p:nvPr>
            <p:ph type="subTitle" idx="1"/>
          </p:nvPr>
        </p:nvSpPr>
        <p:spPr>
          <a:xfrm>
            <a:off x="5486400" y="12967337"/>
            <a:ext cx="32918400" cy="5960743"/>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333C688-D8FA-9B46-82D1-138CD23A974B}" type="datetimeFigureOut">
              <a:rPr lang="en-US" smtClean="0"/>
              <a:t>10/3/25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CD6857-698F-0E4C-97BA-629E73ACFECE}" type="slidenum">
              <a:rPr lang="en-US" smtClean="0"/>
              <a:t>‹#›</a:t>
            </a:fld>
            <a:endParaRPr lang="en-US"/>
          </a:p>
        </p:txBody>
      </p:sp>
    </p:spTree>
    <p:extLst>
      <p:ext uri="{BB962C8B-B14F-4D97-AF65-F5344CB8AC3E}">
        <p14:creationId xmlns:p14="http://schemas.microsoft.com/office/powerpoint/2010/main" val="1645479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33C688-D8FA-9B46-82D1-138CD23A974B}" type="datetimeFigureOut">
              <a:rPr lang="en-US" smtClean="0"/>
              <a:t>10/3/25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CD6857-698F-0E4C-97BA-629E73ACFECE}" type="slidenum">
              <a:rPr lang="en-US" smtClean="0"/>
              <a:t>‹#›</a:t>
            </a:fld>
            <a:endParaRPr lang="en-US"/>
          </a:p>
        </p:txBody>
      </p:sp>
    </p:spTree>
    <p:extLst>
      <p:ext uri="{BB962C8B-B14F-4D97-AF65-F5344CB8AC3E}">
        <p14:creationId xmlns:p14="http://schemas.microsoft.com/office/powerpoint/2010/main" val="3872862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0" y="6155059"/>
            <a:ext cx="37856160" cy="10269853"/>
          </a:xfrm>
        </p:spPr>
        <p:txBody>
          <a:bodyPr anchor="b"/>
          <a:lstStyle>
            <a:lvl1pPr>
              <a:defRPr sz="21600"/>
            </a:lvl1pPr>
          </a:lstStyle>
          <a:p>
            <a:r>
              <a:rPr lang="en-US"/>
              <a:t>Click to edit Master title style</a:t>
            </a:r>
            <a:endParaRPr lang="en-US" dirty="0"/>
          </a:p>
        </p:txBody>
      </p:sp>
      <p:sp>
        <p:nvSpPr>
          <p:cNvPr id="3" name="Text Placeholder 2"/>
          <p:cNvSpPr>
            <a:spLocks noGrp="1"/>
          </p:cNvSpPr>
          <p:nvPr>
            <p:ph type="body" idx="1"/>
          </p:nvPr>
        </p:nvSpPr>
        <p:spPr>
          <a:xfrm>
            <a:off x="2994660" y="16522069"/>
            <a:ext cx="37856160" cy="5400673"/>
          </a:xfrm>
        </p:spPr>
        <p:txBody>
          <a:bodyPr/>
          <a:lstStyle>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33C688-D8FA-9B46-82D1-138CD23A974B}" type="datetimeFigureOut">
              <a:rPr lang="en-US" smtClean="0"/>
              <a:t>10/3/25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CD6857-698F-0E4C-97BA-629E73ACFECE}" type="slidenum">
              <a:rPr lang="en-US" smtClean="0"/>
              <a:t>‹#›</a:t>
            </a:fld>
            <a:endParaRPr lang="en-US"/>
          </a:p>
        </p:txBody>
      </p:sp>
    </p:spTree>
    <p:extLst>
      <p:ext uri="{BB962C8B-B14F-4D97-AF65-F5344CB8AC3E}">
        <p14:creationId xmlns:p14="http://schemas.microsoft.com/office/powerpoint/2010/main" val="3277656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6572250"/>
            <a:ext cx="18653760" cy="156648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6572250"/>
            <a:ext cx="18653760" cy="156648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333C688-D8FA-9B46-82D1-138CD23A974B}" type="datetimeFigureOut">
              <a:rPr lang="en-US" smtClean="0"/>
              <a:t>10/3/25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CD6857-698F-0E4C-97BA-629E73ACFECE}" type="slidenum">
              <a:rPr lang="en-US" smtClean="0"/>
              <a:t>‹#›</a:t>
            </a:fld>
            <a:endParaRPr lang="en-US"/>
          </a:p>
        </p:txBody>
      </p:sp>
    </p:spTree>
    <p:extLst>
      <p:ext uri="{BB962C8B-B14F-4D97-AF65-F5344CB8AC3E}">
        <p14:creationId xmlns:p14="http://schemas.microsoft.com/office/powerpoint/2010/main" val="2561352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314452"/>
            <a:ext cx="37856160" cy="4772027"/>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39" y="6052187"/>
            <a:ext cx="18568033" cy="2966083"/>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p:cNvSpPr>
            <a:spLocks noGrp="1"/>
          </p:cNvSpPr>
          <p:nvPr>
            <p:ph sz="half" idx="2"/>
          </p:nvPr>
        </p:nvSpPr>
        <p:spPr>
          <a:xfrm>
            <a:off x="3023239" y="9018270"/>
            <a:ext cx="18568033" cy="13264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0" y="6052187"/>
            <a:ext cx="18659477" cy="2966083"/>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p:cNvSpPr>
            <a:spLocks noGrp="1"/>
          </p:cNvSpPr>
          <p:nvPr>
            <p:ph sz="quarter" idx="4"/>
          </p:nvPr>
        </p:nvSpPr>
        <p:spPr>
          <a:xfrm>
            <a:off x="22219920" y="9018270"/>
            <a:ext cx="18659477" cy="13264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33C688-D8FA-9B46-82D1-138CD23A974B}" type="datetimeFigureOut">
              <a:rPr lang="en-US" smtClean="0"/>
              <a:t>10/3/25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CD6857-698F-0E4C-97BA-629E73ACFECE}" type="slidenum">
              <a:rPr lang="en-US" smtClean="0"/>
              <a:t>‹#›</a:t>
            </a:fld>
            <a:endParaRPr lang="en-US"/>
          </a:p>
        </p:txBody>
      </p:sp>
    </p:spTree>
    <p:extLst>
      <p:ext uri="{BB962C8B-B14F-4D97-AF65-F5344CB8AC3E}">
        <p14:creationId xmlns:p14="http://schemas.microsoft.com/office/powerpoint/2010/main" val="13787436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333C688-D8FA-9B46-82D1-138CD23A974B}" type="datetimeFigureOut">
              <a:rPr lang="en-US" smtClean="0"/>
              <a:t>10/3/25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ECD6857-698F-0E4C-97BA-629E73ACFECE}" type="slidenum">
              <a:rPr lang="en-US" smtClean="0"/>
              <a:t>‹#›</a:t>
            </a:fld>
            <a:endParaRPr lang="en-US"/>
          </a:p>
        </p:txBody>
      </p:sp>
    </p:spTree>
    <p:extLst>
      <p:ext uri="{BB962C8B-B14F-4D97-AF65-F5344CB8AC3E}">
        <p14:creationId xmlns:p14="http://schemas.microsoft.com/office/powerpoint/2010/main" val="1509814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33C688-D8FA-9B46-82D1-138CD23A974B}" type="datetimeFigureOut">
              <a:rPr lang="en-US" smtClean="0"/>
              <a:t>10/3/25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ECD6857-698F-0E4C-97BA-629E73ACFECE}" type="slidenum">
              <a:rPr lang="en-US" smtClean="0"/>
              <a:t>‹#›</a:t>
            </a:fld>
            <a:endParaRPr lang="en-US"/>
          </a:p>
        </p:txBody>
      </p:sp>
    </p:spTree>
    <p:extLst>
      <p:ext uri="{BB962C8B-B14F-4D97-AF65-F5344CB8AC3E}">
        <p14:creationId xmlns:p14="http://schemas.microsoft.com/office/powerpoint/2010/main" val="778989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9" y="1645920"/>
            <a:ext cx="14156053" cy="5760720"/>
          </a:xfrm>
        </p:spPr>
        <p:txBody>
          <a:bodyPr anchor="b"/>
          <a:lstStyle>
            <a:lvl1pPr>
              <a:defRPr sz="11520"/>
            </a:lvl1pPr>
          </a:lstStyle>
          <a:p>
            <a:r>
              <a:rPr lang="en-US"/>
              <a:t>Click to edit Master title style</a:t>
            </a:r>
            <a:endParaRPr lang="en-US" dirty="0"/>
          </a:p>
        </p:txBody>
      </p:sp>
      <p:sp>
        <p:nvSpPr>
          <p:cNvPr id="3" name="Content Placeholder 2"/>
          <p:cNvSpPr>
            <a:spLocks noGrp="1"/>
          </p:cNvSpPr>
          <p:nvPr>
            <p:ph idx="1"/>
          </p:nvPr>
        </p:nvSpPr>
        <p:spPr>
          <a:xfrm>
            <a:off x="18659477" y="3554732"/>
            <a:ext cx="22219920" cy="1754505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9" y="7406640"/>
            <a:ext cx="14156053" cy="13721717"/>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A333C688-D8FA-9B46-82D1-138CD23A974B}" type="datetimeFigureOut">
              <a:rPr lang="en-US" smtClean="0"/>
              <a:t>10/3/25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CD6857-698F-0E4C-97BA-629E73ACFECE}" type="slidenum">
              <a:rPr lang="en-US" smtClean="0"/>
              <a:t>‹#›</a:t>
            </a:fld>
            <a:endParaRPr lang="en-US"/>
          </a:p>
        </p:txBody>
      </p:sp>
    </p:spTree>
    <p:extLst>
      <p:ext uri="{BB962C8B-B14F-4D97-AF65-F5344CB8AC3E}">
        <p14:creationId xmlns:p14="http://schemas.microsoft.com/office/powerpoint/2010/main" val="226898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9" y="1645920"/>
            <a:ext cx="14156053" cy="5760720"/>
          </a:xfrm>
        </p:spPr>
        <p:txBody>
          <a:bodyPr anchor="b"/>
          <a:lstStyle>
            <a:lvl1pPr>
              <a:defRPr sz="11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3554732"/>
            <a:ext cx="22219920" cy="1754505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endParaRPr lang="en-US" dirty="0"/>
          </a:p>
        </p:txBody>
      </p:sp>
      <p:sp>
        <p:nvSpPr>
          <p:cNvPr id="4" name="Text Placeholder 3"/>
          <p:cNvSpPr>
            <a:spLocks noGrp="1"/>
          </p:cNvSpPr>
          <p:nvPr>
            <p:ph type="body" sz="half" idx="2"/>
          </p:nvPr>
        </p:nvSpPr>
        <p:spPr>
          <a:xfrm>
            <a:off x="3023239" y="7406640"/>
            <a:ext cx="14156053" cy="13721717"/>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A333C688-D8FA-9B46-82D1-138CD23A974B}" type="datetimeFigureOut">
              <a:rPr lang="en-US" smtClean="0"/>
              <a:t>10/3/25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CD6857-698F-0E4C-97BA-629E73ACFECE}" type="slidenum">
              <a:rPr lang="en-US" smtClean="0"/>
              <a:t>‹#›</a:t>
            </a:fld>
            <a:endParaRPr lang="en-US"/>
          </a:p>
        </p:txBody>
      </p:sp>
    </p:spTree>
    <p:extLst>
      <p:ext uri="{BB962C8B-B14F-4D97-AF65-F5344CB8AC3E}">
        <p14:creationId xmlns:p14="http://schemas.microsoft.com/office/powerpoint/2010/main" val="3823253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33C688-D8FA-9B46-82D1-138CD23A974B}" type="datetimeFigureOut">
              <a:rPr lang="en-US" smtClean="0"/>
              <a:t>10/3/25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CD6857-698F-0E4C-97BA-629E73ACFECE}" type="slidenum">
              <a:rPr lang="en-US" smtClean="0"/>
              <a:t>‹#›</a:t>
            </a:fld>
            <a:endParaRPr lang="en-US"/>
          </a:p>
        </p:txBody>
      </p:sp>
    </p:spTree>
    <p:extLst>
      <p:ext uri="{BB962C8B-B14F-4D97-AF65-F5344CB8AC3E}">
        <p14:creationId xmlns:p14="http://schemas.microsoft.com/office/powerpoint/2010/main" val="170190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0" y="1314450"/>
            <a:ext cx="9464040" cy="209226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0" y="1314450"/>
            <a:ext cx="27843480" cy="209226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33C688-D8FA-9B46-82D1-138CD23A974B}" type="datetimeFigureOut">
              <a:rPr lang="en-US" smtClean="0"/>
              <a:t>10/3/25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CD6857-698F-0E4C-97BA-629E73ACFECE}" type="slidenum">
              <a:rPr lang="en-US" smtClean="0"/>
              <a:t>‹#›</a:t>
            </a:fld>
            <a:endParaRPr lang="en-US"/>
          </a:p>
        </p:txBody>
      </p:sp>
    </p:spTree>
    <p:extLst>
      <p:ext uri="{BB962C8B-B14F-4D97-AF65-F5344CB8AC3E}">
        <p14:creationId xmlns:p14="http://schemas.microsoft.com/office/powerpoint/2010/main" val="733978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314452"/>
            <a:ext cx="37856160" cy="477202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6572250"/>
            <a:ext cx="37856160" cy="156648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22882862"/>
            <a:ext cx="9875520" cy="1314450"/>
          </a:xfrm>
          <a:prstGeom prst="rect">
            <a:avLst/>
          </a:prstGeom>
        </p:spPr>
        <p:txBody>
          <a:bodyPr vert="horz" lIns="91440" tIns="45720" rIns="91440" bIns="45720" rtlCol="0" anchor="ctr"/>
          <a:lstStyle>
            <a:lvl1pPr algn="l">
              <a:defRPr sz="4320">
                <a:solidFill>
                  <a:schemeClr val="tx1">
                    <a:tint val="82000"/>
                  </a:schemeClr>
                </a:solidFill>
              </a:defRPr>
            </a:lvl1pPr>
          </a:lstStyle>
          <a:p>
            <a:fld id="{A333C688-D8FA-9B46-82D1-138CD23A974B}" type="datetimeFigureOut">
              <a:rPr lang="en-US" smtClean="0"/>
              <a:t>10/3/25</a:t>
            </a:fld>
            <a:endParaRPr lang="en-US"/>
          </a:p>
        </p:txBody>
      </p:sp>
      <p:sp>
        <p:nvSpPr>
          <p:cNvPr id="5" name="Footer Placeholder 4"/>
          <p:cNvSpPr>
            <a:spLocks noGrp="1"/>
          </p:cNvSpPr>
          <p:nvPr>
            <p:ph type="ftr" sz="quarter" idx="3"/>
          </p:nvPr>
        </p:nvSpPr>
        <p:spPr>
          <a:xfrm>
            <a:off x="14538960" y="22882862"/>
            <a:ext cx="14813280" cy="1314450"/>
          </a:xfrm>
          <a:prstGeom prst="rect">
            <a:avLst/>
          </a:prstGeom>
        </p:spPr>
        <p:txBody>
          <a:bodyPr vert="horz" lIns="91440" tIns="45720" rIns="91440" bIns="45720" rtlCol="0" anchor="ctr"/>
          <a:lstStyle>
            <a:lvl1pPr algn="ctr">
              <a:defRPr sz="432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22882862"/>
            <a:ext cx="9875520" cy="1314450"/>
          </a:xfrm>
          <a:prstGeom prst="rect">
            <a:avLst/>
          </a:prstGeom>
        </p:spPr>
        <p:txBody>
          <a:bodyPr vert="horz" lIns="91440" tIns="45720" rIns="91440" bIns="45720" rtlCol="0" anchor="ctr"/>
          <a:lstStyle>
            <a:lvl1pPr algn="r">
              <a:defRPr sz="4320">
                <a:solidFill>
                  <a:schemeClr val="tx1">
                    <a:tint val="82000"/>
                  </a:schemeClr>
                </a:solidFill>
              </a:defRPr>
            </a:lvl1pPr>
          </a:lstStyle>
          <a:p>
            <a:fld id="{7ECD6857-698F-0E4C-97BA-629E73ACFECE}" type="slidenum">
              <a:rPr lang="en-US" smtClean="0"/>
              <a:t>‹#›</a:t>
            </a:fld>
            <a:endParaRPr lang="en-US"/>
          </a:p>
        </p:txBody>
      </p:sp>
    </p:spTree>
    <p:extLst>
      <p:ext uri="{BB962C8B-B14F-4D97-AF65-F5344CB8AC3E}">
        <p14:creationId xmlns:p14="http://schemas.microsoft.com/office/powerpoint/2010/main" val="127780058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886482C-A404-0FE3-887D-655699483347}"/>
              </a:ext>
            </a:extLst>
          </p:cNvPr>
          <p:cNvSpPr/>
          <p:nvPr/>
        </p:nvSpPr>
        <p:spPr>
          <a:xfrm>
            <a:off x="0" y="0"/>
            <a:ext cx="43891200" cy="4648200"/>
          </a:xfrm>
          <a:prstGeom prst="rect">
            <a:avLst/>
          </a:prstGeom>
          <a:solidFill>
            <a:srgbClr val="001F5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55261DD-06CF-7F59-812F-9B1D317A46C7}"/>
              </a:ext>
            </a:extLst>
          </p:cNvPr>
          <p:cNvSpPr txBox="1"/>
          <p:nvPr/>
        </p:nvSpPr>
        <p:spPr>
          <a:xfrm>
            <a:off x="6477000" y="322928"/>
            <a:ext cx="31089600" cy="3170099"/>
          </a:xfrm>
          <a:prstGeom prst="rect">
            <a:avLst/>
          </a:prstGeom>
          <a:noFill/>
        </p:spPr>
        <p:txBody>
          <a:bodyPr wrap="square" rtlCol="0">
            <a:spAutoFit/>
          </a:bodyPr>
          <a:lstStyle/>
          <a:p>
            <a:pPr algn="ctr"/>
            <a:r>
              <a:rPr lang="en-US" sz="8000" b="1" dirty="0">
                <a:solidFill>
                  <a:schemeClr val="bg1"/>
                </a:solidFill>
                <a:latin typeface="Arial" panose="020B0604020202020204" pitchFamily="34" charset="0"/>
                <a:cs typeface="Arial" panose="020B0604020202020204" pitchFamily="34" charset="0"/>
              </a:rPr>
              <a:t>National Trends in Osteomyelitis-Associated Mortality in the United States, 1999-2023</a:t>
            </a:r>
          </a:p>
          <a:p>
            <a:pPr algn="ctr"/>
            <a:r>
              <a:rPr lang="en-US" sz="4000" dirty="0">
                <a:solidFill>
                  <a:schemeClr val="bg1"/>
                </a:solidFill>
                <a:latin typeface="Arial" panose="020B0604020202020204" pitchFamily="34" charset="0"/>
                <a:cs typeface="Arial" panose="020B0604020202020204" pitchFamily="34" charset="0"/>
              </a:rPr>
              <a:t>Krishna O. Sanaka BS</a:t>
            </a:r>
            <a:r>
              <a:rPr lang="en-US" sz="4000" baseline="30000" dirty="0">
                <a:solidFill>
                  <a:schemeClr val="bg1"/>
                </a:solidFill>
                <a:latin typeface="Arial" panose="020B0604020202020204" pitchFamily="34" charset="0"/>
                <a:cs typeface="Arial" panose="020B0604020202020204" pitchFamily="34" charset="0"/>
              </a:rPr>
              <a:t>1</a:t>
            </a:r>
            <a:r>
              <a:rPr lang="en-US" sz="4000" dirty="0">
                <a:solidFill>
                  <a:schemeClr val="bg1"/>
                </a:solidFill>
                <a:latin typeface="Arial" panose="020B0604020202020204" pitchFamily="34" charset="0"/>
                <a:cs typeface="Arial" panose="020B0604020202020204" pitchFamily="34" charset="0"/>
              </a:rPr>
              <a:t>, Andrew L. Wang BS</a:t>
            </a:r>
            <a:r>
              <a:rPr lang="en-US" sz="4000" baseline="30000" dirty="0">
                <a:solidFill>
                  <a:schemeClr val="bg1"/>
                </a:solidFill>
                <a:latin typeface="Arial" panose="020B0604020202020204" pitchFamily="34" charset="0"/>
                <a:cs typeface="Arial" panose="020B0604020202020204" pitchFamily="34" charset="0"/>
              </a:rPr>
              <a:t>2</a:t>
            </a:r>
            <a:r>
              <a:rPr lang="en-US" sz="4000" dirty="0">
                <a:solidFill>
                  <a:schemeClr val="bg1"/>
                </a:solidFill>
                <a:latin typeface="Arial" panose="020B0604020202020204" pitchFamily="34" charset="0"/>
                <a:cs typeface="Arial" panose="020B0604020202020204" pitchFamily="34" charset="0"/>
              </a:rPr>
              <a:t>, Rodrigo M. Carrillo-Larco MD, PhD</a:t>
            </a:r>
            <a:r>
              <a:rPr lang="en-US" sz="4000" baseline="30000" dirty="0">
                <a:solidFill>
                  <a:schemeClr val="bg1"/>
                </a:solidFill>
                <a:latin typeface="Arial" panose="020B0604020202020204" pitchFamily="34" charset="0"/>
                <a:cs typeface="Arial" panose="020B0604020202020204" pitchFamily="34" charset="0"/>
              </a:rPr>
              <a:t>3,4</a:t>
            </a:r>
            <a:r>
              <a:rPr lang="en-US" sz="4000" dirty="0">
                <a:solidFill>
                  <a:schemeClr val="bg1"/>
                </a:solidFill>
                <a:latin typeface="Arial" panose="020B0604020202020204" pitchFamily="34" charset="0"/>
                <a:cs typeface="Arial" panose="020B0604020202020204" pitchFamily="34" charset="0"/>
              </a:rPr>
              <a:t>, Marcos C. Schechter MD</a:t>
            </a:r>
            <a:r>
              <a:rPr lang="en-US" sz="4000" baseline="30000" dirty="0">
                <a:solidFill>
                  <a:schemeClr val="bg1"/>
                </a:solidFill>
                <a:latin typeface="Arial" panose="020B0604020202020204" pitchFamily="34" charset="0"/>
                <a:cs typeface="Arial" panose="020B0604020202020204" pitchFamily="34" charset="0"/>
              </a:rPr>
              <a:t>5,6</a:t>
            </a:r>
            <a:endParaRPr lang="en-US" sz="4000" dirty="0">
              <a:solidFill>
                <a:schemeClr val="bg1"/>
              </a:solidFill>
              <a:latin typeface="Arial" panose="020B0604020202020204" pitchFamily="34" charset="0"/>
              <a:cs typeface="Arial" panose="020B0604020202020204" pitchFamily="34" charset="0"/>
            </a:endParaRPr>
          </a:p>
        </p:txBody>
      </p:sp>
      <p:pic>
        <p:nvPicPr>
          <p:cNvPr id="11" name="Picture 10" descr="A black and white logo&#10;&#10;AI-generated content may be incorrect.">
            <a:extLst>
              <a:ext uri="{FF2B5EF4-FFF2-40B4-BE49-F238E27FC236}">
                <a16:creationId xmlns:a16="http://schemas.microsoft.com/office/drawing/2014/main" id="{96B27DF2-41AA-7459-D9BC-864321F2BE16}"/>
              </a:ext>
            </a:extLst>
          </p:cNvPr>
          <p:cNvPicPr>
            <a:picLocks noChangeAspect="1"/>
          </p:cNvPicPr>
          <p:nvPr/>
        </p:nvPicPr>
        <p:blipFill>
          <a:blip r:embed="rId3"/>
          <a:stretch>
            <a:fillRect/>
          </a:stretch>
        </p:blipFill>
        <p:spPr>
          <a:xfrm>
            <a:off x="1219200" y="1448050"/>
            <a:ext cx="4800600" cy="1294898"/>
          </a:xfrm>
          <a:prstGeom prst="rect">
            <a:avLst/>
          </a:prstGeom>
        </p:spPr>
      </p:pic>
      <p:pic>
        <p:nvPicPr>
          <p:cNvPr id="13" name="Picture 12" descr="A black and white logo&#10;&#10;AI-generated content may be incorrect.">
            <a:extLst>
              <a:ext uri="{FF2B5EF4-FFF2-40B4-BE49-F238E27FC236}">
                <a16:creationId xmlns:a16="http://schemas.microsoft.com/office/drawing/2014/main" id="{D19C19CE-ADF6-07A9-062D-B282B0F60A62}"/>
              </a:ext>
            </a:extLst>
          </p:cNvPr>
          <p:cNvPicPr>
            <a:picLocks noChangeAspect="1"/>
          </p:cNvPicPr>
          <p:nvPr/>
        </p:nvPicPr>
        <p:blipFill>
          <a:blip r:embed="rId4"/>
          <a:stretch>
            <a:fillRect/>
          </a:stretch>
        </p:blipFill>
        <p:spPr>
          <a:xfrm>
            <a:off x="37871400" y="1004886"/>
            <a:ext cx="4800600" cy="2181225"/>
          </a:xfrm>
          <a:prstGeom prst="rect">
            <a:avLst/>
          </a:prstGeom>
        </p:spPr>
      </p:pic>
      <p:sp>
        <p:nvSpPr>
          <p:cNvPr id="14" name="TextBox 13">
            <a:extLst>
              <a:ext uri="{FF2B5EF4-FFF2-40B4-BE49-F238E27FC236}">
                <a16:creationId xmlns:a16="http://schemas.microsoft.com/office/drawing/2014/main" id="{76EBDB45-BFBA-ED2D-21F0-F5DCF75D093C}"/>
              </a:ext>
            </a:extLst>
          </p:cNvPr>
          <p:cNvSpPr txBox="1"/>
          <p:nvPr/>
        </p:nvSpPr>
        <p:spPr>
          <a:xfrm>
            <a:off x="1828800" y="3493027"/>
            <a:ext cx="40309800" cy="830997"/>
          </a:xfrm>
          <a:prstGeom prst="rect">
            <a:avLst/>
          </a:prstGeom>
          <a:noFill/>
        </p:spPr>
        <p:txBody>
          <a:bodyPr wrap="square" rtlCol="0">
            <a:spAutoFit/>
          </a:bodyPr>
          <a:lstStyle/>
          <a:p>
            <a:pPr algn="ctr"/>
            <a:r>
              <a:rPr lang="en-US" sz="2400" dirty="0">
                <a:solidFill>
                  <a:schemeClr val="bg1"/>
                </a:solidFill>
                <a:latin typeface="Arial" panose="020B0604020202020204" pitchFamily="34" charset="0"/>
                <a:cs typeface="Arial" panose="020B0604020202020204" pitchFamily="34" charset="0"/>
              </a:rPr>
              <a:t>1. Perelman School of Medicine, University of Pennsylvania, Philadelphia, PA, USA, 2. Geisel School of Medicine, Dartmouth College, Hanover, NH, USA , 3. Emory Global Diabetes Research Center of Woodruff Health Sciences Center, Emory University, Atlanta, GA, USA , 4. Hubert Department of Global Health, Rollins School of Public Health, Emory University, Atlanta, GA, USA , 5. Grady Health System, Atlanta, GA, USA , 6. Division of Infectious Diseases, Department of Medicine, School of Medicine, Emory University, Atlanta, GA, USA   </a:t>
            </a:r>
          </a:p>
        </p:txBody>
      </p:sp>
      <p:sp>
        <p:nvSpPr>
          <p:cNvPr id="16" name="TextBox 15">
            <a:extLst>
              <a:ext uri="{FF2B5EF4-FFF2-40B4-BE49-F238E27FC236}">
                <a16:creationId xmlns:a16="http://schemas.microsoft.com/office/drawing/2014/main" id="{C6A954B3-5812-D95E-C2E4-98C35F8D27E1}"/>
              </a:ext>
            </a:extLst>
          </p:cNvPr>
          <p:cNvSpPr txBox="1"/>
          <p:nvPr/>
        </p:nvSpPr>
        <p:spPr>
          <a:xfrm>
            <a:off x="952500" y="5074104"/>
            <a:ext cx="11925300" cy="1015663"/>
          </a:xfrm>
          <a:prstGeom prst="rect">
            <a:avLst/>
          </a:prstGeom>
          <a:solidFill>
            <a:srgbClr val="001F5A"/>
          </a:solidFill>
        </p:spPr>
        <p:txBody>
          <a:bodyPr wrap="square" rtlCol="0">
            <a:spAutoFit/>
          </a:bodyPr>
          <a:lstStyle/>
          <a:p>
            <a:pPr algn="ctr"/>
            <a:r>
              <a:rPr lang="en-US" sz="6000" b="1" dirty="0">
                <a:solidFill>
                  <a:schemeClr val="bg1"/>
                </a:solidFill>
                <a:latin typeface="Arial" panose="020B0604020202020204" pitchFamily="34" charset="0"/>
                <a:cs typeface="Arial" panose="020B0604020202020204" pitchFamily="34" charset="0"/>
              </a:rPr>
              <a:t>Introduction</a:t>
            </a:r>
          </a:p>
        </p:txBody>
      </p:sp>
      <p:sp>
        <p:nvSpPr>
          <p:cNvPr id="17" name="TextBox 16">
            <a:extLst>
              <a:ext uri="{FF2B5EF4-FFF2-40B4-BE49-F238E27FC236}">
                <a16:creationId xmlns:a16="http://schemas.microsoft.com/office/drawing/2014/main" id="{BCB4077E-5150-6BCB-F95D-40B5B1E598BC}"/>
              </a:ext>
            </a:extLst>
          </p:cNvPr>
          <p:cNvSpPr txBox="1"/>
          <p:nvPr/>
        </p:nvSpPr>
        <p:spPr>
          <a:xfrm>
            <a:off x="952500" y="8858885"/>
            <a:ext cx="11925300" cy="1015663"/>
          </a:xfrm>
          <a:prstGeom prst="rect">
            <a:avLst/>
          </a:prstGeom>
          <a:solidFill>
            <a:srgbClr val="001F5A"/>
          </a:solidFill>
        </p:spPr>
        <p:txBody>
          <a:bodyPr wrap="square" rtlCol="0">
            <a:spAutoFit/>
          </a:bodyPr>
          <a:lstStyle/>
          <a:p>
            <a:pPr algn="ctr"/>
            <a:r>
              <a:rPr lang="en-US" sz="6000" b="1" dirty="0">
                <a:solidFill>
                  <a:schemeClr val="bg1"/>
                </a:solidFill>
                <a:latin typeface="Arial" panose="020B0604020202020204" pitchFamily="34" charset="0"/>
                <a:cs typeface="Arial" panose="020B0604020202020204" pitchFamily="34" charset="0"/>
              </a:rPr>
              <a:t>Methods</a:t>
            </a:r>
          </a:p>
        </p:txBody>
      </p:sp>
      <p:sp>
        <p:nvSpPr>
          <p:cNvPr id="18" name="TextBox 17">
            <a:extLst>
              <a:ext uri="{FF2B5EF4-FFF2-40B4-BE49-F238E27FC236}">
                <a16:creationId xmlns:a16="http://schemas.microsoft.com/office/drawing/2014/main" id="{2AD2AA3D-13D7-832D-82F8-112FBAC633EA}"/>
              </a:ext>
            </a:extLst>
          </p:cNvPr>
          <p:cNvSpPr txBox="1"/>
          <p:nvPr/>
        </p:nvSpPr>
        <p:spPr>
          <a:xfrm>
            <a:off x="952500" y="13537119"/>
            <a:ext cx="11925300" cy="1015663"/>
          </a:xfrm>
          <a:prstGeom prst="rect">
            <a:avLst/>
          </a:prstGeom>
          <a:solidFill>
            <a:srgbClr val="001F5A"/>
          </a:solidFill>
        </p:spPr>
        <p:txBody>
          <a:bodyPr wrap="square" rtlCol="0">
            <a:spAutoFit/>
          </a:bodyPr>
          <a:lstStyle/>
          <a:p>
            <a:pPr algn="ctr"/>
            <a:r>
              <a:rPr lang="en-US" sz="6000" b="1" dirty="0">
                <a:solidFill>
                  <a:schemeClr val="bg1"/>
                </a:solidFill>
                <a:latin typeface="Arial" panose="020B0604020202020204" pitchFamily="34" charset="0"/>
                <a:cs typeface="Arial" panose="020B0604020202020204" pitchFamily="34" charset="0"/>
              </a:rPr>
              <a:t>Results</a:t>
            </a:r>
          </a:p>
        </p:txBody>
      </p:sp>
      <p:sp>
        <p:nvSpPr>
          <p:cNvPr id="19" name="TextBox 18">
            <a:extLst>
              <a:ext uri="{FF2B5EF4-FFF2-40B4-BE49-F238E27FC236}">
                <a16:creationId xmlns:a16="http://schemas.microsoft.com/office/drawing/2014/main" id="{CE677536-7F6A-5A43-8703-4C29AA92DDF7}"/>
              </a:ext>
            </a:extLst>
          </p:cNvPr>
          <p:cNvSpPr txBox="1"/>
          <p:nvPr/>
        </p:nvSpPr>
        <p:spPr>
          <a:xfrm>
            <a:off x="952500" y="21534327"/>
            <a:ext cx="11925300" cy="1015663"/>
          </a:xfrm>
          <a:prstGeom prst="rect">
            <a:avLst/>
          </a:prstGeom>
          <a:solidFill>
            <a:srgbClr val="001F5A"/>
          </a:solidFill>
        </p:spPr>
        <p:txBody>
          <a:bodyPr wrap="square" rtlCol="0">
            <a:spAutoFit/>
          </a:bodyPr>
          <a:lstStyle/>
          <a:p>
            <a:pPr algn="ctr"/>
            <a:r>
              <a:rPr lang="en-US" sz="6000" b="1" dirty="0">
                <a:solidFill>
                  <a:schemeClr val="bg1"/>
                </a:solidFill>
                <a:latin typeface="Arial" panose="020B0604020202020204" pitchFamily="34" charset="0"/>
                <a:cs typeface="Arial" panose="020B0604020202020204" pitchFamily="34" charset="0"/>
              </a:rPr>
              <a:t>Conclusions</a:t>
            </a:r>
          </a:p>
        </p:txBody>
      </p:sp>
      <p:sp>
        <p:nvSpPr>
          <p:cNvPr id="20" name="TextBox 19">
            <a:extLst>
              <a:ext uri="{FF2B5EF4-FFF2-40B4-BE49-F238E27FC236}">
                <a16:creationId xmlns:a16="http://schemas.microsoft.com/office/drawing/2014/main" id="{EC633403-A29F-A772-A968-6348CC496F9F}"/>
              </a:ext>
            </a:extLst>
          </p:cNvPr>
          <p:cNvSpPr txBox="1"/>
          <p:nvPr/>
        </p:nvSpPr>
        <p:spPr>
          <a:xfrm>
            <a:off x="31013400" y="5050650"/>
            <a:ext cx="11925300" cy="984885"/>
          </a:xfrm>
          <a:prstGeom prst="rect">
            <a:avLst/>
          </a:prstGeom>
          <a:solidFill>
            <a:srgbClr val="001F5A"/>
          </a:solidFill>
        </p:spPr>
        <p:txBody>
          <a:bodyPr wrap="square" rtlCol="0">
            <a:spAutoFit/>
          </a:bodyPr>
          <a:lstStyle/>
          <a:p>
            <a:pPr algn="ctr"/>
            <a:r>
              <a:rPr lang="en-US" sz="2900" b="1" dirty="0">
                <a:solidFill>
                  <a:schemeClr val="bg1"/>
                </a:solidFill>
                <a:latin typeface="Arial" panose="020B0604020202020204" pitchFamily="34" charset="0"/>
                <a:cs typeface="Arial" panose="020B0604020202020204" pitchFamily="34" charset="0"/>
              </a:rPr>
              <a:t>Figure 1. Age-adjusted mortality rates over time for osteomyelitis by sex category.</a:t>
            </a:r>
          </a:p>
        </p:txBody>
      </p:sp>
      <p:sp>
        <p:nvSpPr>
          <p:cNvPr id="21" name="TextBox 20">
            <a:extLst>
              <a:ext uri="{FF2B5EF4-FFF2-40B4-BE49-F238E27FC236}">
                <a16:creationId xmlns:a16="http://schemas.microsoft.com/office/drawing/2014/main" id="{237A5B9B-791E-DA62-FFE0-B45FEDA3996A}"/>
              </a:ext>
            </a:extLst>
          </p:cNvPr>
          <p:cNvSpPr txBox="1"/>
          <p:nvPr/>
        </p:nvSpPr>
        <p:spPr>
          <a:xfrm>
            <a:off x="15982948" y="5089492"/>
            <a:ext cx="11925300" cy="984885"/>
          </a:xfrm>
          <a:prstGeom prst="rect">
            <a:avLst/>
          </a:prstGeom>
          <a:solidFill>
            <a:srgbClr val="001F5A"/>
          </a:solidFill>
        </p:spPr>
        <p:txBody>
          <a:bodyPr wrap="square" rtlCol="0">
            <a:spAutoFit/>
          </a:bodyPr>
          <a:lstStyle/>
          <a:p>
            <a:pPr algn="ctr"/>
            <a:r>
              <a:rPr lang="en-US" sz="2900" b="1" dirty="0">
                <a:solidFill>
                  <a:schemeClr val="bg1"/>
                </a:solidFill>
                <a:latin typeface="Arial" panose="020B0604020202020204" pitchFamily="34" charset="0"/>
                <a:cs typeface="Arial" panose="020B0604020202020204" pitchFamily="34" charset="0"/>
              </a:rPr>
              <a:t>Table 1. Age-adjusted mortality rates and annual percent changes for osteomyelitis by demographic group and comorbidity.</a:t>
            </a:r>
            <a:endParaRPr lang="en-US" sz="2900" dirty="0">
              <a:solidFill>
                <a:schemeClr val="bg1"/>
              </a:solidFill>
              <a:latin typeface="Arial" panose="020B0604020202020204" pitchFamily="34" charset="0"/>
              <a:cs typeface="Arial" panose="020B0604020202020204" pitchFamily="34" charset="0"/>
            </a:endParaRPr>
          </a:p>
        </p:txBody>
      </p:sp>
      <p:graphicFrame>
        <p:nvGraphicFramePr>
          <p:cNvPr id="22" name="Table 21">
            <a:extLst>
              <a:ext uri="{FF2B5EF4-FFF2-40B4-BE49-F238E27FC236}">
                <a16:creationId xmlns:a16="http://schemas.microsoft.com/office/drawing/2014/main" id="{179546B6-36F8-1FA4-B9B0-132DD216307B}"/>
              </a:ext>
            </a:extLst>
          </p:cNvPr>
          <p:cNvGraphicFramePr>
            <a:graphicFrameLocks noGrp="1"/>
          </p:cNvGraphicFramePr>
          <p:nvPr>
            <p:extLst>
              <p:ext uri="{D42A27DB-BD31-4B8C-83A1-F6EECF244321}">
                <p14:modId xmlns:p14="http://schemas.microsoft.com/office/powerpoint/2010/main" val="3378907059"/>
              </p:ext>
            </p:extLst>
          </p:nvPr>
        </p:nvGraphicFramePr>
        <p:xfrm>
          <a:off x="15982950" y="6089767"/>
          <a:ext cx="11925298" cy="18276105"/>
        </p:xfrm>
        <a:graphic>
          <a:graphicData uri="http://schemas.openxmlformats.org/drawingml/2006/table">
            <a:tbl>
              <a:tblPr firstRow="1" bandRow="1">
                <a:tableStyleId>{69CF1AB2-1976-4502-BF36-3FF5EA218861}</a:tableStyleId>
              </a:tblPr>
              <a:tblGrid>
                <a:gridCol w="1703614">
                  <a:extLst>
                    <a:ext uri="{9D8B030D-6E8A-4147-A177-3AD203B41FA5}">
                      <a16:colId xmlns:a16="http://schemas.microsoft.com/office/drawing/2014/main" val="2034318467"/>
                    </a:ext>
                  </a:extLst>
                </a:gridCol>
                <a:gridCol w="1703614">
                  <a:extLst>
                    <a:ext uri="{9D8B030D-6E8A-4147-A177-3AD203B41FA5}">
                      <a16:colId xmlns:a16="http://schemas.microsoft.com/office/drawing/2014/main" val="1471593622"/>
                    </a:ext>
                  </a:extLst>
                </a:gridCol>
                <a:gridCol w="1703614">
                  <a:extLst>
                    <a:ext uri="{9D8B030D-6E8A-4147-A177-3AD203B41FA5}">
                      <a16:colId xmlns:a16="http://schemas.microsoft.com/office/drawing/2014/main" val="3294304426"/>
                    </a:ext>
                  </a:extLst>
                </a:gridCol>
                <a:gridCol w="1703614">
                  <a:extLst>
                    <a:ext uri="{9D8B030D-6E8A-4147-A177-3AD203B41FA5}">
                      <a16:colId xmlns:a16="http://schemas.microsoft.com/office/drawing/2014/main" val="1739074477"/>
                    </a:ext>
                  </a:extLst>
                </a:gridCol>
                <a:gridCol w="1703614">
                  <a:extLst>
                    <a:ext uri="{9D8B030D-6E8A-4147-A177-3AD203B41FA5}">
                      <a16:colId xmlns:a16="http://schemas.microsoft.com/office/drawing/2014/main" val="2365358816"/>
                    </a:ext>
                  </a:extLst>
                </a:gridCol>
                <a:gridCol w="1703614">
                  <a:extLst>
                    <a:ext uri="{9D8B030D-6E8A-4147-A177-3AD203B41FA5}">
                      <a16:colId xmlns:a16="http://schemas.microsoft.com/office/drawing/2014/main" val="2266968882"/>
                    </a:ext>
                  </a:extLst>
                </a:gridCol>
                <a:gridCol w="1703614">
                  <a:extLst>
                    <a:ext uri="{9D8B030D-6E8A-4147-A177-3AD203B41FA5}">
                      <a16:colId xmlns:a16="http://schemas.microsoft.com/office/drawing/2014/main" val="1744377363"/>
                    </a:ext>
                  </a:extLst>
                </a:gridCol>
              </a:tblGrid>
              <a:tr h="1739268">
                <a:tc>
                  <a:txBody>
                    <a:bodyPr/>
                    <a:lstStyle/>
                    <a:p>
                      <a:pPr algn="l"/>
                      <a:r>
                        <a:rPr lang="en-US" sz="2400" dirty="0">
                          <a:solidFill>
                            <a:srgbClr val="001F5A"/>
                          </a:solidFill>
                          <a:latin typeface="Arial" panose="020B0604020202020204" pitchFamily="34" charset="0"/>
                          <a:cs typeface="Arial" panose="020B0604020202020204" pitchFamily="34" charset="0"/>
                        </a:rPr>
                        <a:t>Group</a:t>
                      </a:r>
                    </a:p>
                  </a:txBody>
                  <a:tcPr anchor="ctr"/>
                </a:tc>
                <a:tc>
                  <a:txBody>
                    <a:bodyPr/>
                    <a:lstStyle/>
                    <a:p>
                      <a:pPr marL="0" marR="0" algn="l">
                        <a:lnSpc>
                          <a:spcPct val="115000"/>
                        </a:lnSpc>
                        <a:spcAft>
                          <a:spcPts val="800"/>
                        </a:spcAft>
                        <a:buNone/>
                      </a:pPr>
                      <a:r>
                        <a:rPr lang="en-US" sz="2400" b="1" kern="100" dirty="0">
                          <a:solidFill>
                            <a:srgbClr val="001F5A"/>
                          </a:solidFill>
                          <a:effectLst/>
                          <a:latin typeface="Arial" panose="020B0604020202020204" pitchFamily="34" charset="0"/>
                          <a:cs typeface="Arial" panose="020B0604020202020204" pitchFamily="34" charset="0"/>
                        </a:rPr>
                        <a:t>1999 AAMR</a:t>
                      </a:r>
                      <a:endParaRPr lang="en-US" sz="2400" kern="100" dirty="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l">
                        <a:lnSpc>
                          <a:spcPct val="115000"/>
                        </a:lnSpc>
                        <a:spcAft>
                          <a:spcPts val="800"/>
                        </a:spcAft>
                        <a:buNone/>
                      </a:pPr>
                      <a:r>
                        <a:rPr lang="en-US" sz="2400" b="1" kern="100">
                          <a:solidFill>
                            <a:srgbClr val="001F5A"/>
                          </a:solidFill>
                          <a:effectLst/>
                          <a:latin typeface="Arial" panose="020B0604020202020204" pitchFamily="34" charset="0"/>
                          <a:cs typeface="Arial" panose="020B0604020202020204" pitchFamily="34" charset="0"/>
                        </a:rPr>
                        <a:t>1999 Deaths</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l">
                        <a:lnSpc>
                          <a:spcPct val="115000"/>
                        </a:lnSpc>
                        <a:spcAft>
                          <a:spcPts val="800"/>
                        </a:spcAft>
                        <a:buNone/>
                      </a:pPr>
                      <a:r>
                        <a:rPr lang="en-US" sz="2400" b="1" kern="100" dirty="0">
                          <a:solidFill>
                            <a:srgbClr val="001F5A"/>
                          </a:solidFill>
                          <a:effectLst/>
                          <a:latin typeface="Arial" panose="020B0604020202020204" pitchFamily="34" charset="0"/>
                          <a:cs typeface="Arial" panose="020B0604020202020204" pitchFamily="34" charset="0"/>
                        </a:rPr>
                        <a:t>2023 AAMR</a:t>
                      </a:r>
                      <a:endParaRPr lang="en-US" sz="2400" kern="100" dirty="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l">
                        <a:lnSpc>
                          <a:spcPct val="115000"/>
                        </a:lnSpc>
                        <a:spcAft>
                          <a:spcPts val="800"/>
                        </a:spcAft>
                        <a:buNone/>
                      </a:pPr>
                      <a:r>
                        <a:rPr lang="en-US" sz="2400" b="1" kern="100" dirty="0">
                          <a:solidFill>
                            <a:srgbClr val="001F5A"/>
                          </a:solidFill>
                          <a:effectLst/>
                          <a:latin typeface="Arial" panose="020B0604020202020204" pitchFamily="34" charset="0"/>
                          <a:cs typeface="Arial" panose="020B0604020202020204" pitchFamily="34" charset="0"/>
                        </a:rPr>
                        <a:t>2023 Deaths</a:t>
                      </a:r>
                      <a:endParaRPr lang="en-US" sz="2400" kern="100" dirty="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l">
                        <a:lnSpc>
                          <a:spcPct val="115000"/>
                        </a:lnSpc>
                        <a:spcAft>
                          <a:spcPts val="800"/>
                        </a:spcAft>
                        <a:buNone/>
                      </a:pPr>
                      <a:r>
                        <a:rPr lang="en-US" sz="2400" b="1" kern="100">
                          <a:solidFill>
                            <a:srgbClr val="001F5A"/>
                          </a:solidFill>
                          <a:effectLst/>
                          <a:latin typeface="Arial" panose="020B0604020202020204" pitchFamily="34" charset="0"/>
                          <a:cs typeface="Arial" panose="020B0604020202020204" pitchFamily="34" charset="0"/>
                        </a:rPr>
                        <a:t>APC (95% CI) (%)</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l">
                        <a:lnSpc>
                          <a:spcPct val="115000"/>
                        </a:lnSpc>
                        <a:spcAft>
                          <a:spcPts val="800"/>
                        </a:spcAft>
                        <a:buNone/>
                      </a:pPr>
                      <a:r>
                        <a:rPr lang="en-US" sz="2400" b="1" kern="100" dirty="0">
                          <a:solidFill>
                            <a:srgbClr val="001F5A"/>
                          </a:solidFill>
                          <a:effectLst/>
                          <a:latin typeface="Arial" panose="020B0604020202020204" pitchFamily="34" charset="0"/>
                          <a:cs typeface="Arial" panose="020B0604020202020204" pitchFamily="34" charset="0"/>
                        </a:rPr>
                        <a:t>p-value</a:t>
                      </a:r>
                      <a:endParaRPr lang="en-US" sz="2400" kern="100" dirty="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501593216"/>
                  </a:ext>
                </a:extLst>
              </a:tr>
              <a:tr h="1070025">
                <a:tc>
                  <a:txBody>
                    <a:bodyPr/>
                    <a:lstStyle/>
                    <a:p>
                      <a:pPr marL="0" marR="0">
                        <a:lnSpc>
                          <a:spcPct val="115000"/>
                        </a:lnSpc>
                        <a:spcAft>
                          <a:spcPts val="800"/>
                        </a:spcAft>
                        <a:buNone/>
                      </a:pPr>
                      <a:r>
                        <a:rPr lang="en-US" sz="2400" b="1" kern="100" dirty="0">
                          <a:solidFill>
                            <a:srgbClr val="001F5A"/>
                          </a:solidFill>
                          <a:effectLst/>
                          <a:latin typeface="Arial" panose="020B0604020202020204" pitchFamily="34" charset="0"/>
                          <a:cs typeface="Arial" panose="020B0604020202020204" pitchFamily="34" charset="0"/>
                        </a:rPr>
                        <a:t>Overall</a:t>
                      </a:r>
                      <a:endParaRPr lang="en-US" sz="2400" kern="100" dirty="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0.38</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1,068</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1.11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4,677</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3.54 (2.8, 4.28)</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b="1" kern="100">
                          <a:solidFill>
                            <a:srgbClr val="001F5A"/>
                          </a:solidFill>
                          <a:effectLst/>
                          <a:latin typeface="Arial" panose="020B0604020202020204" pitchFamily="34" charset="0"/>
                          <a:cs typeface="Arial" panose="020B0604020202020204" pitchFamily="34" charset="0"/>
                        </a:rPr>
                        <a:t>&lt;0.001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29473276"/>
                  </a:ext>
                </a:extLst>
              </a:tr>
              <a:tr h="1070025">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Male</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0.47</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488</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1.44</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2,700</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3.92 (3.23, 4.61)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b="1" kern="100">
                          <a:solidFill>
                            <a:srgbClr val="001F5A"/>
                          </a:solidFill>
                          <a:effectLst/>
                          <a:latin typeface="Arial" panose="020B0604020202020204" pitchFamily="34" charset="0"/>
                          <a:cs typeface="Arial" panose="020B0604020202020204" pitchFamily="34" charset="0"/>
                        </a:rPr>
                        <a:t>&lt;0.001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994254466"/>
                  </a:ext>
                </a:extLst>
              </a:tr>
              <a:tr h="1070025">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Female</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0.33</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580</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0.83</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1,977</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3.05 (2.21, 3.89)</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b="1" kern="100">
                          <a:solidFill>
                            <a:srgbClr val="001F5A"/>
                          </a:solidFill>
                          <a:effectLst/>
                          <a:latin typeface="Arial" panose="020B0604020202020204" pitchFamily="34" charset="0"/>
                          <a:cs typeface="Arial" panose="020B0604020202020204" pitchFamily="34" charset="0"/>
                        </a:rPr>
                        <a:t>&lt;0.001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25072522"/>
                  </a:ext>
                </a:extLst>
              </a:tr>
              <a:tr h="1070025">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NH White</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0.35</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831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1.08</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3,381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4.01 (3.28, 4.75)</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b="1" kern="100">
                          <a:solidFill>
                            <a:srgbClr val="001F5A"/>
                          </a:solidFill>
                          <a:effectLst/>
                          <a:latin typeface="Arial" panose="020B0604020202020204" pitchFamily="34" charset="0"/>
                          <a:cs typeface="Arial" panose="020B0604020202020204" pitchFamily="34" charset="0"/>
                        </a:rPr>
                        <a:t>&lt;0.001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475857371"/>
                  </a:ext>
                </a:extLst>
              </a:tr>
              <a:tr h="1070025">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NH Black</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0.76</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166</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2</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821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2.49 (1.37, 3.62)</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b="1" kern="100" dirty="0">
                          <a:solidFill>
                            <a:srgbClr val="001F5A"/>
                          </a:solidFill>
                          <a:effectLst/>
                          <a:latin typeface="Arial" panose="020B0604020202020204" pitchFamily="34" charset="0"/>
                          <a:cs typeface="Arial" panose="020B0604020202020204" pitchFamily="34" charset="0"/>
                        </a:rPr>
                        <a:t>&lt;0.001</a:t>
                      </a:r>
                      <a:endParaRPr lang="en-US" sz="2400" kern="100" dirty="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254130959"/>
                  </a:ext>
                </a:extLst>
              </a:tr>
              <a:tr h="1070025">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Hispanic</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0.3</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41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0.73</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326</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2.29 (1.45, 3.15)</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b="1" kern="100">
                          <a:solidFill>
                            <a:srgbClr val="001F5A"/>
                          </a:solidFill>
                          <a:effectLst/>
                          <a:latin typeface="Arial" panose="020B0604020202020204" pitchFamily="34" charset="0"/>
                          <a:cs typeface="Arial" panose="020B0604020202020204" pitchFamily="34" charset="0"/>
                        </a:rPr>
                        <a:t>&lt;0.001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425661607"/>
                  </a:ext>
                </a:extLst>
              </a:tr>
              <a:tr h="1232179">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Asian or Pacific Islander</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N/A</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15</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0.29</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71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3.24 (0.85, 5.68)</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0.11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956424232"/>
                  </a:ext>
                </a:extLst>
              </a:tr>
              <a:tr h="1232179">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American Indian/Alaska Native</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N/A</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11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dirty="0">
                          <a:solidFill>
                            <a:srgbClr val="001F5A"/>
                          </a:solidFill>
                          <a:effectLst/>
                          <a:latin typeface="Arial" panose="020B0604020202020204" pitchFamily="34" charset="0"/>
                          <a:cs typeface="Arial" panose="020B0604020202020204" pitchFamily="34" charset="0"/>
                        </a:rPr>
                        <a:t>1.83</a:t>
                      </a:r>
                      <a:endParaRPr lang="en-US" sz="2400" kern="100" dirty="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47</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6.79 (2.68, 11.08)</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b="1" kern="100">
                          <a:solidFill>
                            <a:srgbClr val="001F5A"/>
                          </a:solidFill>
                          <a:effectLst/>
                          <a:latin typeface="Arial" panose="020B0604020202020204" pitchFamily="34" charset="0"/>
                          <a:cs typeface="Arial" panose="020B0604020202020204" pitchFamily="34" charset="0"/>
                        </a:rPr>
                        <a:t>0.005</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216831056"/>
                  </a:ext>
                </a:extLst>
              </a:tr>
              <a:tr h="1070025">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0-34</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N/A</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13</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0.02</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32</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&lt;0.001 (0, &lt;0.001)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0.08</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730169657"/>
                  </a:ext>
                </a:extLst>
              </a:tr>
              <a:tr h="1070025">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35-64</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0.15</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155</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0.67</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855</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6.08 (5.47, 6.7)</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b="1" kern="100">
                          <a:solidFill>
                            <a:srgbClr val="001F5A"/>
                          </a:solidFill>
                          <a:effectLst/>
                          <a:latin typeface="Arial" panose="020B0604020202020204" pitchFamily="34" charset="0"/>
                          <a:cs typeface="Arial" panose="020B0604020202020204" pitchFamily="34" charset="0"/>
                        </a:rPr>
                        <a:t>&lt;0.001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869640183"/>
                  </a:ext>
                </a:extLst>
              </a:tr>
              <a:tr h="1070025">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65+</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2.61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907</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6.4</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3,789</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2.9 (2.2, 3.6)</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b="1" kern="100">
                          <a:solidFill>
                            <a:srgbClr val="001F5A"/>
                          </a:solidFill>
                          <a:effectLst/>
                          <a:latin typeface="Arial" panose="020B0604020202020204" pitchFamily="34" charset="0"/>
                          <a:cs typeface="Arial" panose="020B0604020202020204" pitchFamily="34" charset="0"/>
                        </a:rPr>
                        <a:t>&lt;0.001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791628366"/>
                  </a:ext>
                </a:extLst>
              </a:tr>
              <a:tr h="1070025">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Diabetes</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0.28</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771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0.83</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3,532</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4.04 (3.03, 5.07)</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b="1" kern="100">
                          <a:solidFill>
                            <a:srgbClr val="001F5A"/>
                          </a:solidFill>
                          <a:effectLst/>
                          <a:latin typeface="Arial" panose="020B0604020202020204" pitchFamily="34" charset="0"/>
                          <a:cs typeface="Arial" panose="020B0604020202020204" pitchFamily="34" charset="0"/>
                        </a:rPr>
                        <a:t>&lt;0.001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627838658"/>
                  </a:ext>
                </a:extLst>
              </a:tr>
              <a:tr h="1232179">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Peripheral Vascular Disease</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0.06</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176</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0.21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939</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5.27 (4.19, 6.36)</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b="1" kern="100">
                          <a:solidFill>
                            <a:srgbClr val="001F5A"/>
                          </a:solidFill>
                          <a:effectLst/>
                          <a:latin typeface="Arial" panose="020B0604020202020204" pitchFamily="34" charset="0"/>
                          <a:cs typeface="Arial" panose="020B0604020202020204" pitchFamily="34" charset="0"/>
                        </a:rPr>
                        <a:t>&lt;0.001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15583628"/>
                  </a:ext>
                </a:extLst>
              </a:tr>
              <a:tr h="1070025">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Trauma</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0.02</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55</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0.06</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281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6.85 (5.09, 8.64)</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b="1" kern="100">
                          <a:solidFill>
                            <a:srgbClr val="001F5A"/>
                          </a:solidFill>
                          <a:effectLst/>
                          <a:latin typeface="Arial" panose="020B0604020202020204" pitchFamily="34" charset="0"/>
                          <a:cs typeface="Arial" panose="020B0604020202020204" pitchFamily="34" charset="0"/>
                        </a:rPr>
                        <a:t>&lt;0.001</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827175885"/>
                  </a:ext>
                </a:extLst>
              </a:tr>
              <a:tr h="1070025">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Decubitus Ulcer</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0.07</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210</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0.27</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a:solidFill>
                            <a:srgbClr val="001F5A"/>
                          </a:solidFill>
                          <a:effectLst/>
                          <a:latin typeface="Arial" panose="020B0604020202020204" pitchFamily="34" charset="0"/>
                          <a:cs typeface="Arial" panose="020B0604020202020204" pitchFamily="34" charset="0"/>
                        </a:rPr>
                        <a:t>1,210</a:t>
                      </a:r>
                      <a:endParaRPr lang="en-US" sz="2400" kern="10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kern="100" dirty="0">
                          <a:solidFill>
                            <a:srgbClr val="001F5A"/>
                          </a:solidFill>
                          <a:effectLst/>
                          <a:latin typeface="Arial" panose="020B0604020202020204" pitchFamily="34" charset="0"/>
                          <a:cs typeface="Arial" panose="020B0604020202020204" pitchFamily="34" charset="0"/>
                        </a:rPr>
                        <a:t>6.17 (5.32, 7.04)</a:t>
                      </a:r>
                      <a:endParaRPr lang="en-US" sz="2400" kern="100" dirty="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nSpc>
                          <a:spcPct val="115000"/>
                        </a:lnSpc>
                        <a:spcAft>
                          <a:spcPts val="800"/>
                        </a:spcAft>
                        <a:buNone/>
                      </a:pPr>
                      <a:r>
                        <a:rPr lang="en-US" sz="2400" b="1" kern="100" dirty="0">
                          <a:solidFill>
                            <a:srgbClr val="001F5A"/>
                          </a:solidFill>
                          <a:effectLst/>
                          <a:latin typeface="Arial" panose="020B0604020202020204" pitchFamily="34" charset="0"/>
                          <a:cs typeface="Arial" panose="020B0604020202020204" pitchFamily="34" charset="0"/>
                        </a:rPr>
                        <a:t>&lt;0.001</a:t>
                      </a:r>
                      <a:endParaRPr lang="en-US" sz="2400" kern="100" dirty="0">
                        <a:solidFill>
                          <a:srgbClr val="001F5A"/>
                        </a:solidFill>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693037508"/>
                  </a:ext>
                </a:extLst>
              </a:tr>
            </a:tbl>
          </a:graphicData>
        </a:graphic>
      </p:graphicFrame>
      <p:pic>
        <p:nvPicPr>
          <p:cNvPr id="24" name="Picture 23">
            <a:extLst>
              <a:ext uri="{FF2B5EF4-FFF2-40B4-BE49-F238E27FC236}">
                <a16:creationId xmlns:a16="http://schemas.microsoft.com/office/drawing/2014/main" id="{8B364C8E-AD84-EFC4-B7D0-4D60991A0884}"/>
              </a:ext>
            </a:extLst>
          </p:cNvPr>
          <p:cNvPicPr>
            <a:picLocks/>
          </p:cNvPicPr>
          <p:nvPr/>
        </p:nvPicPr>
        <p:blipFill>
          <a:blip r:embed="rId5"/>
          <a:srcRect/>
          <a:stretch/>
        </p:blipFill>
        <p:spPr>
          <a:xfrm>
            <a:off x="31010084" y="6035536"/>
            <a:ext cx="11925298" cy="8595360"/>
          </a:xfrm>
          <a:prstGeom prst="rect">
            <a:avLst/>
          </a:prstGeom>
        </p:spPr>
      </p:pic>
      <p:sp>
        <p:nvSpPr>
          <p:cNvPr id="25" name="TextBox 24">
            <a:extLst>
              <a:ext uri="{FF2B5EF4-FFF2-40B4-BE49-F238E27FC236}">
                <a16:creationId xmlns:a16="http://schemas.microsoft.com/office/drawing/2014/main" id="{DD01B9A3-7935-5CE6-9A58-B450CF7799F6}"/>
              </a:ext>
            </a:extLst>
          </p:cNvPr>
          <p:cNvSpPr txBox="1"/>
          <p:nvPr/>
        </p:nvSpPr>
        <p:spPr>
          <a:xfrm>
            <a:off x="31010083" y="14785627"/>
            <a:ext cx="11925300" cy="984885"/>
          </a:xfrm>
          <a:prstGeom prst="rect">
            <a:avLst/>
          </a:prstGeom>
          <a:solidFill>
            <a:srgbClr val="001F5A"/>
          </a:solidFill>
        </p:spPr>
        <p:txBody>
          <a:bodyPr wrap="square" rtlCol="0">
            <a:spAutoFit/>
          </a:bodyPr>
          <a:lstStyle/>
          <a:p>
            <a:pPr algn="ctr"/>
            <a:r>
              <a:rPr lang="en-US" sz="2900" b="1" dirty="0">
                <a:solidFill>
                  <a:schemeClr val="bg1"/>
                </a:solidFill>
                <a:latin typeface="Arial" panose="020B0604020202020204" pitchFamily="34" charset="0"/>
                <a:cs typeface="Arial" panose="020B0604020202020204" pitchFamily="34" charset="0"/>
              </a:rPr>
              <a:t>Figure 2. Age-adjusted mortality rates over time for osteomyelitis by racial/ethnic category.</a:t>
            </a:r>
          </a:p>
        </p:txBody>
      </p:sp>
      <p:pic>
        <p:nvPicPr>
          <p:cNvPr id="26" name="Picture 25">
            <a:extLst>
              <a:ext uri="{FF2B5EF4-FFF2-40B4-BE49-F238E27FC236}">
                <a16:creationId xmlns:a16="http://schemas.microsoft.com/office/drawing/2014/main" id="{0A3991C2-3395-3C2F-FCF7-6D17D9483A0E}"/>
              </a:ext>
            </a:extLst>
          </p:cNvPr>
          <p:cNvPicPr>
            <a:picLocks/>
          </p:cNvPicPr>
          <p:nvPr/>
        </p:nvPicPr>
        <p:blipFill>
          <a:blip r:embed="rId6"/>
          <a:stretch>
            <a:fillRect/>
          </a:stretch>
        </p:blipFill>
        <p:spPr>
          <a:xfrm>
            <a:off x="31010085" y="15770512"/>
            <a:ext cx="11925298" cy="8595360"/>
          </a:xfrm>
          <a:prstGeom prst="rect">
            <a:avLst/>
          </a:prstGeom>
        </p:spPr>
      </p:pic>
      <p:sp>
        <p:nvSpPr>
          <p:cNvPr id="27" name="TextBox 26">
            <a:extLst>
              <a:ext uri="{FF2B5EF4-FFF2-40B4-BE49-F238E27FC236}">
                <a16:creationId xmlns:a16="http://schemas.microsoft.com/office/drawing/2014/main" id="{C951D9B9-B8D4-92F6-8092-72B4E40FE8C8}"/>
              </a:ext>
            </a:extLst>
          </p:cNvPr>
          <p:cNvSpPr txBox="1"/>
          <p:nvPr/>
        </p:nvSpPr>
        <p:spPr>
          <a:xfrm>
            <a:off x="952500" y="6089767"/>
            <a:ext cx="11925300" cy="2769989"/>
          </a:xfrm>
          <a:prstGeom prst="rect">
            <a:avLst/>
          </a:prstGeom>
          <a:noFill/>
        </p:spPr>
        <p:txBody>
          <a:bodyPr wrap="square" rtlCol="0">
            <a:spAutoFit/>
          </a:bodyPr>
          <a:lstStyle/>
          <a:p>
            <a:r>
              <a:rPr lang="en-US" sz="2900" dirty="0">
                <a:latin typeface="Arial" panose="020B0604020202020204" pitchFamily="34" charset="0"/>
                <a:cs typeface="Arial" panose="020B0604020202020204" pitchFamily="34" charset="0"/>
              </a:rPr>
              <a:t>Osteomyelitis is a serious infection associated with prolonged hospitalizations, amputation risk, and high mortality in vulnerable populations. Despite clinical advances, little is known about national trends in osteomyelitis mortality over time or across demographic groups. We aimed to characterize population-level mortality patterns associated with osteomyelitis in the United States from 1999 to 2023. </a:t>
            </a:r>
          </a:p>
        </p:txBody>
      </p:sp>
      <p:sp>
        <p:nvSpPr>
          <p:cNvPr id="28" name="TextBox 27">
            <a:extLst>
              <a:ext uri="{FF2B5EF4-FFF2-40B4-BE49-F238E27FC236}">
                <a16:creationId xmlns:a16="http://schemas.microsoft.com/office/drawing/2014/main" id="{8EE519B4-EBF5-E8D4-7049-3F9535591C92}"/>
              </a:ext>
            </a:extLst>
          </p:cNvPr>
          <p:cNvSpPr txBox="1"/>
          <p:nvPr/>
        </p:nvSpPr>
        <p:spPr>
          <a:xfrm>
            <a:off x="952500" y="9876320"/>
            <a:ext cx="11925300" cy="3662541"/>
          </a:xfrm>
          <a:prstGeom prst="rect">
            <a:avLst/>
          </a:prstGeom>
          <a:noFill/>
        </p:spPr>
        <p:txBody>
          <a:bodyPr wrap="square" rtlCol="0">
            <a:spAutoFit/>
          </a:bodyPr>
          <a:lstStyle/>
          <a:p>
            <a:r>
              <a:rPr lang="en-US" sz="2900" dirty="0">
                <a:latin typeface="Arial" panose="020B0604020202020204" pitchFamily="34" charset="0"/>
                <a:cs typeface="Arial" panose="020B0604020202020204" pitchFamily="34" charset="0"/>
              </a:rPr>
              <a:t>We conducted a retrospective, population-based analysis from the CDC WONDER Multiple Cause of Death database, covering all United States deaths from the years 1999 to 2023. Death certificates with osteomyelitis as an underlying or contributing cause were identified using the M86 code in the ICD-10. We fitted log-linear regression models to estimate the annual percent change (APC) in age-adjusted mortality rates (AAMRs) over time with stratifications for demographic subgroups. </a:t>
            </a:r>
          </a:p>
        </p:txBody>
      </p:sp>
      <p:sp>
        <p:nvSpPr>
          <p:cNvPr id="29" name="TextBox 28">
            <a:extLst>
              <a:ext uri="{FF2B5EF4-FFF2-40B4-BE49-F238E27FC236}">
                <a16:creationId xmlns:a16="http://schemas.microsoft.com/office/drawing/2014/main" id="{F80D4586-DF00-4B8A-1E0C-360F50465325}"/>
              </a:ext>
            </a:extLst>
          </p:cNvPr>
          <p:cNvSpPr txBox="1"/>
          <p:nvPr/>
        </p:nvSpPr>
        <p:spPr>
          <a:xfrm>
            <a:off x="952500" y="14517694"/>
            <a:ext cx="11925300" cy="7232749"/>
          </a:xfrm>
          <a:prstGeom prst="rect">
            <a:avLst/>
          </a:prstGeom>
          <a:noFill/>
        </p:spPr>
        <p:txBody>
          <a:bodyPr wrap="square" rtlCol="0">
            <a:spAutoFit/>
          </a:bodyPr>
          <a:lstStyle/>
          <a:p>
            <a:r>
              <a:rPr lang="en-US" sz="2900" dirty="0">
                <a:latin typeface="Arial" panose="020B0604020202020204" pitchFamily="34" charset="0"/>
                <a:cs typeface="Arial" panose="020B0604020202020204" pitchFamily="34" charset="0"/>
              </a:rPr>
              <a:t>From 1999 to 2023, there were 55,976 deaths in the U.S. where osteomyelitis was listed as the underlying cause and 131,490 deaths where it was listed as contributing among multiple causes. Among deaths where osteomyelitis was an underlying cause, 54.02% were men and 74.28% were non-Hispanic White. Diabetes was the most common comorbid condition listed on the certificates (29.64%), followed by decubitus ulcers (9.48%), peripheral vascular disease (7.93%), and trauma (2.66%). The AAMR from osteomyelitis as an underlying cause of death increased from 0.38 per 100,000 in 1999 to 1.11 per 100,000 in 2023 [APC of 3.54% (95% CI) 2.8, 4.28; p &lt; 0.001] (</a:t>
            </a:r>
            <a:r>
              <a:rPr lang="en-US" sz="2900" b="1" dirty="0">
                <a:latin typeface="Arial" panose="020B0604020202020204" pitchFamily="34" charset="0"/>
                <a:cs typeface="Arial" panose="020B0604020202020204" pitchFamily="34" charset="0"/>
              </a:rPr>
              <a:t>Table 1</a:t>
            </a:r>
            <a:r>
              <a:rPr lang="en-US" sz="2900" dirty="0">
                <a:latin typeface="Arial" panose="020B0604020202020204" pitchFamily="34" charset="0"/>
                <a:cs typeface="Arial" panose="020B0604020202020204" pitchFamily="34" charset="0"/>
              </a:rPr>
              <a:t>). Most demographic subgroups also experienced increases in AAMR over the study period. Both male and female residents saw significant increases in their AAMRs, as did those who were Non-Hispanic White, Non-Hispanic Black, and Hispanic. Asian and Pacific Islander residents did not experience a significant increase in AAMRs from 1999 to 2023.</a:t>
            </a:r>
          </a:p>
          <a:p>
            <a:r>
              <a:rPr lang="en-US" sz="2900" dirty="0">
                <a:latin typeface="Arial" panose="020B0604020202020204" pitchFamily="34" charset="0"/>
                <a:cs typeface="Arial" panose="020B0604020202020204" pitchFamily="34" charset="0"/>
              </a:rPr>
              <a:t> </a:t>
            </a:r>
          </a:p>
        </p:txBody>
      </p:sp>
      <p:sp>
        <p:nvSpPr>
          <p:cNvPr id="30" name="TextBox 29">
            <a:extLst>
              <a:ext uri="{FF2B5EF4-FFF2-40B4-BE49-F238E27FC236}">
                <a16:creationId xmlns:a16="http://schemas.microsoft.com/office/drawing/2014/main" id="{C748F161-AAD4-9963-0EE1-E7894B634019}"/>
              </a:ext>
            </a:extLst>
          </p:cNvPr>
          <p:cNvSpPr txBox="1"/>
          <p:nvPr/>
        </p:nvSpPr>
        <p:spPr>
          <a:xfrm>
            <a:off x="952500" y="22549990"/>
            <a:ext cx="11925300" cy="1877437"/>
          </a:xfrm>
          <a:prstGeom prst="rect">
            <a:avLst/>
          </a:prstGeom>
          <a:noFill/>
        </p:spPr>
        <p:txBody>
          <a:bodyPr wrap="square" rtlCol="0">
            <a:spAutoFit/>
          </a:bodyPr>
          <a:lstStyle/>
          <a:p>
            <a:r>
              <a:rPr lang="en-US" sz="2900" dirty="0">
                <a:latin typeface="Arial" panose="020B0604020202020204" pitchFamily="34" charset="0"/>
                <a:cs typeface="Arial" panose="020B0604020202020204" pitchFamily="34" charset="0"/>
              </a:rPr>
              <a:t>Osteomyelitis mortality rates have steadily increased over the past two decades, with marked demographic disparities. These findings underscore the need for improved prevention, earlier diagnosis, and targeted intervention strategies, particularly in high-burden populations. </a:t>
            </a:r>
          </a:p>
        </p:txBody>
      </p:sp>
    </p:spTree>
    <p:extLst>
      <p:ext uri="{BB962C8B-B14F-4D97-AF65-F5344CB8AC3E}">
        <p14:creationId xmlns:p14="http://schemas.microsoft.com/office/powerpoint/2010/main" val="281330582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1114</TotalTime>
  <Words>799</Words>
  <Application>Microsoft Macintosh PowerPoint</Application>
  <PresentationFormat>Custom</PresentationFormat>
  <Paragraphs>128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Sanaka, Krishna</dc:creator>
  <cp:lastModifiedBy>Sanaka, Krishna</cp:lastModifiedBy>
  <cp:revision>50</cp:revision>
  <dcterms:created xsi:type="dcterms:W3CDTF">2025-10-03T03:24:23Z</dcterms:created>
  <dcterms:modified xsi:type="dcterms:W3CDTF">2025-10-03T22:17:10Z</dcterms:modified>
</cp:coreProperties>
</file>